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21"/>
  </p:notesMasterIdLst>
  <p:sldIdLst>
    <p:sldId id="256" r:id="rId3"/>
    <p:sldId id="257" r:id="rId4"/>
    <p:sldId id="271" r:id="rId5"/>
    <p:sldId id="283" r:id="rId6"/>
    <p:sldId id="259" r:id="rId7"/>
    <p:sldId id="284" r:id="rId8"/>
    <p:sldId id="260" r:id="rId9"/>
    <p:sldId id="286" r:id="rId10"/>
    <p:sldId id="277" r:id="rId11"/>
    <p:sldId id="278" r:id="rId12"/>
    <p:sldId id="262" r:id="rId13"/>
    <p:sldId id="280" r:id="rId14"/>
    <p:sldId id="279" r:id="rId15"/>
    <p:sldId id="273" r:id="rId16"/>
    <p:sldId id="275" r:id="rId17"/>
    <p:sldId id="276" r:id="rId18"/>
    <p:sldId id="288" r:id="rId19"/>
    <p:sldId id="281"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5033" autoAdjust="0"/>
  </p:normalViewPr>
  <p:slideViewPr>
    <p:cSldViewPr snapToGrid="0" snapToObjects="1">
      <p:cViewPr varScale="1">
        <p:scale>
          <a:sx n="82" d="100"/>
          <a:sy n="82" d="100"/>
        </p:scale>
        <p:origin x="691"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0062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45 minutes: about 30 of walkthrough and demo, 15 for questions. Everything in this deck comes from the repository: the code, the logs (BUILD_LOG, AI_TOOLING_LOG, PROMPT_ITERATIONS) and the executed test protocol.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21DC5-588C-2FB4-02CD-4405116E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CF0D9-677A-0F07-4305-7CAF56A1B63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514503-3ADA-6A34-1E51-387432724E4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CD6FD25-986D-0263-9DE3-9F912AB34280}"/>
              </a:ext>
            </a:extLst>
          </p:cNvPr>
          <p:cNvSpPr>
            <a:spLocks noGrp="1"/>
          </p:cNvSpPr>
          <p:nvPr>
            <p:ph type="sldNum" sz="quarter" idx="5"/>
          </p:nvPr>
        </p:nvSpPr>
        <p:spPr/>
      </p:sp>
    </p:spTree>
    <p:extLst>
      <p:ext uri="{BB962C8B-B14F-4D97-AF65-F5344CB8AC3E}">
        <p14:creationId xmlns:p14="http://schemas.microsoft.com/office/powerpoint/2010/main" val="63214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build on one page. Three custom objects: the client meeting, research notes, and a log with one row for every AI request, alongside standard Account, Contact, Opportunity, activity and Files. One Employee agent, Banker Assistant, running as the banker. Its Client Meetings subagent holds all four actions, and two more subagents handle off-topic and unclear requests. The actions are Apex: two Find actions that pin down exactly one meeting or client and store it in a guard variable, and two AI actions that take the record from that variable, never from the AI. The same summary service also sits behind a button on the meeting record. Two Prompt Builder templates on GPT 5.4 ask for strict JSON with a source for every fact. And the data comes only from CRM, gathered by Apex as the banker, with every fact tagged so the answer can be checked. Now let me show it working.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decision I want to explain is how the AI gets its facts. Prompt Builder offers no-code options. Related-list merge fields drop child records straight into the prompt, but they can't filter, can't tag where a fact came from, can't mark banker-typed notes as untrusted, and can't cap the size. A Flow could filter, but tagging and size rules in Flow are awkward and hard to test. Data Cloud's retriever is semantic search for large document libraries; it's the right next step for research PDFs, but our facts are structured CRM records. So I wrote one Apex class that runs as the banker and returns a single tagged block. Every fact gets a source tag, which is what lets code check the AI's answer. The trade-off is custom code to maintain, which I accepted because the guarantee needs to be testable, and the class is reused by every new agent.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banker. After a meeting, someone has to turn rough notes into a summary, and before the next one, dig through CRM and research to answer simple questions. It's slow, and a wrong number or missed next step in front of a client is a real risk. Without a safe tool, bankers paste notes into public AI tools, which is a data problem. The bigger issue is the backlog: if 30 or more agents are each built differently, every team solves data access, invented facts, failures and logging on its own, compliance reviews 30 designs, and nobody can prove what any agent said. One bad answer can pause the whole program. So I built this as a pattern the next 29 agents reuse: they ship faster, compliance approves the pattern once, and every agent is monitored the same way.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9717549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when this goes from my org to a real bank? Five things. One: the work happens inside the banker's own click, so it shares their Salesforce limits. I cap it at three meetings per click and call the AI before saving anything, because going over fails the whole click and Salesforce doesn't allow a call out after saving starts. Two: a summary takes about seven seconds, fifteen with a retry, so we retry only once; one retry fixes most one-off glitches. Three: every AI call costs money and a retry doubles it, so we only retry when it can help; a permission error never fixes itself. Four: the log holds client data, so it needs a retention period; we clear the raw text and keep the stats. And five: the check that stops one client's facts appearing in another client's answer only loads 2,000 names. At a big bank that isn't enough, so it's logged when it happens, and the fix is to look up only the names that actually appear in the question and answer. The common thread: never fail silently, and never spend the banker's time or money on something that can't succeed.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SI copies. Every capability runs the same five steps. Context: Apex gathers the client facts as the banker, tags every fact with a source and marks the notes as untrusted. Template: Prompt Builder asks the model to write in a fixed JSON format, from a frozen version. Validate: code checks the answer, fixes what's safe and blocks the rest; that's where the guarantee lives. Fallback: if it fails twice, the banker gets CRM facts only, or an honest 'couldn't verify'. Log: one row per request for audit and monitoring. The shared pieces are real code: AiActionSupport handles errors, links and logging, and the test kit includes a mock model so tests never call the real one. When Option B was built it reused all of that instead of copying it. For each new agent: add its action to the domain's existing subagent with the guard, generate the whole agent script and diff what's deployed, and keep a set of unseen test data for the end.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each with how it stays safe today. One: the agent's chat re-types the action's output, so it can shorten it or replay an earlier result; the save time makes a replay visible, the record, PDF and log are the source of truth, and the fix is a custom Lightning display. Two and three are the holdout findings, a pair about initials: the AI may guess who 'RK' is, which is measured but not blocked yet; and 'P. Raman' made the check block a correct answer, which fails safe. Both have a clear rule as the next step. Four: asking before regenerating is an instruction, not code; low harm because the new summary is still checked and logged. Five: closed deals and older meetings aren't in the context, so the agent says it can't answer. Six: record-level sharing is enforced in code but this test org has open sharing, so it needs a re-test in a private sandbox. Every next step ends with a re-run on new unseen data. Questions.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next steps, not features of this build. Salesforce announced Headless 360 at TDX in April and AIforce at Dreamforce in September. Together they let the same agent be reached from Slack, Claude, Agentforce Coworker or any app through APIs and MCP tools. The reason my design is ready for that is that none of the guarantees live in the chat window: the facts, the checks, the fallback and the log are all in Salesforce Apex, so wherever the question comes from, the same code answers as that banker. What I'd test first: the display layer, because I already saw the Lightning chat trim and replay results, and the new Experience Layer may fix that; that the banker's own identity carries through rather than a shared integration user; and request consumption per channel. Salesforce in Claude is in beta, so I'd treat all of this as a pilot.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96418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19190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2"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3225367"/>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103120"/>
            <a:ext cx="3931920" cy="1828800"/>
          </a:xfrm>
          <a:prstGeom prst="rect">
            <a:avLst/>
          </a:prstGeom>
          <a:noFill/>
        </p:spPr>
        <p:txBody>
          <a:bodyPr wrap="square" lIns="45720" rIns="45720" anchor="t">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1384995"/>
          </a:xfrm>
          <a:prstGeom prst="rect">
            <a:avLst/>
          </a:prstGeom>
          <a:noFill/>
        </p:spPr>
        <p:txBody>
          <a:bodyPr wrap="square" lIns="45720" rIns="45720" anchor="t">
            <a:spAutoFit/>
          </a:bodyPr>
          <a:lstStyle/>
          <a:p>
            <a:pPr algn="l"/>
            <a:r>
              <a:rPr lang="en-US" sz="2800" b="1" i="0" dirty="0">
                <a:solidFill>
                  <a:srgbClr val="1F4E79"/>
                </a:solidFill>
                <a:latin typeface="Calibri"/>
              </a:rPr>
              <a:t>Developing a Banking Agent for </a:t>
            </a:r>
            <a:r>
              <a:rPr sz="2800" b="1" i="0" dirty="0">
                <a:solidFill>
                  <a:srgbClr val="1F4E79"/>
                </a:solidFill>
                <a:latin typeface="Calibri"/>
              </a:rPr>
              <a:t>Client Meeting Summar</a:t>
            </a:r>
            <a:r>
              <a:rPr lang="en-US" sz="2800" b="1" i="0" dirty="0">
                <a:solidFill>
                  <a:srgbClr val="1F4E79"/>
                </a:solidFill>
                <a:latin typeface="Calibri"/>
              </a:rPr>
              <a:t>ies</a:t>
            </a:r>
            <a:r>
              <a:rPr sz="2800" b="1" i="0" dirty="0">
                <a:solidFill>
                  <a:srgbClr val="1F4E79"/>
                </a:solidFill>
                <a:latin typeface="Calibri"/>
              </a:rPr>
              <a:t> and Meeting Prep Q&amp;A</a:t>
            </a:r>
          </a:p>
        </p:txBody>
      </p:sp>
      <p:sp>
        <p:nvSpPr>
          <p:cNvPr id="6" name="TextBox 5"/>
          <p:cNvSpPr txBox="1"/>
          <p:nvPr/>
        </p:nvSpPr>
        <p:spPr>
          <a:xfrm>
            <a:off x="5303520" y="4837617"/>
            <a:ext cx="6400800" cy="584775"/>
          </a:xfrm>
          <a:prstGeom prst="rect">
            <a:avLst/>
          </a:prstGeom>
          <a:noFill/>
        </p:spPr>
        <p:txBody>
          <a:bodyPr wrap="square" lIns="45720" rIns="45720" anchor="t">
            <a:spAutoFit/>
          </a:bodyPr>
          <a:lstStyle/>
          <a:p>
            <a:pPr algn="l"/>
            <a:r>
              <a:rPr sz="1600" b="0" i="0" dirty="0">
                <a:solidFill>
                  <a:srgbClr val="595959"/>
                </a:solidFill>
                <a:latin typeface="Calibri"/>
              </a:rPr>
              <a:t>Monib Rahman  ·  October 2026</a:t>
            </a:r>
            <a:endParaRPr lang="en-US" sz="1600" b="0" i="0" dirty="0">
              <a:solidFill>
                <a:srgbClr val="595959"/>
              </a:solidFill>
              <a:latin typeface="Calibri"/>
            </a:endParaRPr>
          </a:p>
          <a:p>
            <a:r>
              <a:rPr lang="en-US" sz="1600" dirty="0">
                <a:solidFill>
                  <a:srgbClr val="595959"/>
                </a:solidFill>
              </a:rPr>
              <a:t>https://github.com/monibrahman/agentforce-banking-reference/</a:t>
            </a:r>
            <a:endParaRPr sz="1600" b="0" i="0" dirty="0">
              <a:solidFill>
                <a:srgbClr val="595959"/>
              </a:solidFill>
              <a:latin typeface="Calibri"/>
            </a:endParaRPr>
          </a:p>
        </p:txBody>
      </p:sp>
      <p:sp>
        <p:nvSpPr>
          <p:cNvPr id="8" name="TextBox 7"/>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sz="3000" b="1" i="0" dirty="0">
                <a:solidFill>
                  <a:srgbClr val="1F4E79"/>
                </a:solidFill>
                <a:latin typeface="Calibri"/>
              </a:rPr>
              <a:t>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5120640" cy="457200"/>
          </a:xfrm>
          <a:prstGeom prst="rect">
            <a:avLst/>
          </a:prstGeom>
          <a:noFill/>
        </p:spPr>
        <p:txBody>
          <a:bodyPr wrap="square" lIns="45720" rIns="45720" anchor="t">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1862048"/>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An investment banking intuition is using the Salesforce platform</a:t>
            </a:r>
            <a:endParaRPr sz="2100" b="0" i="0" dirty="0">
              <a:solidFill>
                <a:srgbClr val="1A1A1A"/>
              </a:solidFill>
              <a:latin typeface="Calibri"/>
            </a:endParaRPr>
          </a:p>
          <a:p>
            <a:pPr marL="274320" indent="-228600">
              <a:spcAft>
                <a:spcPts val="600"/>
              </a:spcAft>
              <a:buChar char="•"/>
            </a:pPr>
            <a:r>
              <a:rPr sz="2100" b="0" i="0" dirty="0">
                <a:solidFill>
                  <a:srgbClr val="1A1A1A"/>
                </a:solidFill>
                <a:latin typeface="Calibri"/>
              </a:rPr>
              <a:t>SI partner building 30+ agents for bankers</a:t>
            </a:r>
          </a:p>
          <a:p>
            <a:pPr marL="274320" indent="-228600">
              <a:spcAft>
                <a:spcPts val="600"/>
              </a:spcAft>
              <a:buChar char="•"/>
            </a:pPr>
            <a:r>
              <a:rPr sz="2100" b="0" i="0" dirty="0">
                <a:solidFill>
                  <a:srgbClr val="1A1A1A"/>
                </a:solidFill>
                <a:latin typeface="Calibri"/>
              </a:rPr>
              <a:t>Needs a reference implementation it can copy</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481328"/>
            <a:ext cx="5166360" cy="457200"/>
          </a:xfrm>
          <a:prstGeom prst="rect">
            <a:avLst/>
          </a:prstGeom>
          <a:noFill/>
        </p:spPr>
        <p:txBody>
          <a:bodyPr wrap="square" lIns="45720" rIns="45720" anchor="t">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2262158"/>
          </a:xfrm>
          <a:prstGeom prst="rect">
            <a:avLst/>
          </a:prstGeom>
          <a:noFill/>
        </p:spPr>
        <p:txBody>
          <a:bodyPr wrap="square">
            <a:spAutoFit/>
          </a:bodyPr>
          <a:lstStyle/>
          <a:p>
            <a:pPr marL="274320" indent="-228600">
              <a:spcAft>
                <a:spcPts val="600"/>
              </a:spcAft>
              <a:buChar char="•"/>
            </a:pPr>
            <a:r>
              <a:rPr sz="2100" b="1" i="0" dirty="0">
                <a:solidFill>
                  <a:srgbClr val="1A1A1A"/>
                </a:solidFill>
                <a:latin typeface="Calibri"/>
              </a:rPr>
              <a:t>A: Client Meeting Summary</a:t>
            </a:r>
            <a:r>
              <a:rPr sz="2100" b="0" i="0" dirty="0">
                <a:solidFill>
                  <a:srgbClr val="1A1A1A"/>
                </a:solidFill>
                <a:latin typeface="Calibri"/>
              </a:rPr>
              <a:t>, button or agent; saved on the record and as a PDF</a:t>
            </a:r>
          </a:p>
          <a:p>
            <a:pPr marL="274320" indent="-228600">
              <a:spcAft>
                <a:spcPts val="600"/>
              </a:spcAft>
              <a:buChar char="•"/>
            </a:pPr>
            <a:r>
              <a:rPr sz="2100" b="1" i="0" dirty="0">
                <a:solidFill>
                  <a:srgbClr val="1A1A1A"/>
                </a:solidFill>
                <a:latin typeface="Calibri"/>
              </a:rPr>
              <a:t>B: Meeting Prep Q&amp;A</a:t>
            </a:r>
            <a:r>
              <a:rPr sz="2100" b="0" i="0" dirty="0">
                <a:solidFill>
                  <a:srgbClr val="1A1A1A"/>
                </a:solidFill>
                <a:latin typeface="Calibri"/>
              </a:rPr>
              <a:t>, 1 to 5 sentences, every one cited</a:t>
            </a:r>
          </a:p>
          <a:p>
            <a:pPr marL="274320" indent="-228600">
              <a:spcAft>
                <a:spcPts val="600"/>
              </a:spcAft>
              <a:buChar char="•"/>
            </a:pPr>
            <a:r>
              <a:rPr sz="2100" b="0" i="0" dirty="0">
                <a:solidFill>
                  <a:srgbClr val="1A1A1A"/>
                </a:solidFill>
                <a:latin typeface="Calibri"/>
              </a:rPr>
              <a:t>One shared pattern</a:t>
            </a:r>
          </a:p>
          <a:p>
            <a:pPr marL="274320" indent="-228600">
              <a:spcAft>
                <a:spcPts val="600"/>
              </a:spcAft>
              <a:buChar char="•"/>
            </a:pPr>
            <a:r>
              <a:rPr sz="2100" b="0" i="0" dirty="0">
                <a:solidFill>
                  <a:srgbClr val="1A1A1A"/>
                </a:solidFill>
                <a:latin typeface="Calibri"/>
              </a:rPr>
              <a:t>Logs, prompt history and</a:t>
            </a:r>
            <a:r>
              <a:rPr lang="en-US" sz="2100" b="0" i="0" dirty="0">
                <a:solidFill>
                  <a:srgbClr val="1A1A1A"/>
                </a:solidFill>
                <a:latin typeface="Calibri"/>
              </a:rPr>
              <a:t> generation results</a:t>
            </a:r>
            <a:endParaRPr sz="2100" b="0" i="0" dirty="0">
              <a:solidFill>
                <a:srgbClr val="1A1A1A"/>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7122A-AA9C-506C-0D7E-5FF63097E2B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1395FA2-64F5-9D6A-3CE2-466EAA898A21}"/>
              </a:ext>
            </a:extLst>
          </p:cNvPr>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738226E-780B-46BB-19E5-483CCF224BEF}"/>
              </a:ext>
            </a:extLst>
          </p:cNvPr>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lang="en-US" sz="3000" b="1" dirty="0">
                <a:solidFill>
                  <a:srgbClr val="1F4E79"/>
                </a:solidFill>
                <a:latin typeface="Calibri"/>
              </a:rPr>
              <a:t>pproach</a:t>
            </a:r>
            <a:endParaRPr sz="3000" b="1" i="0" dirty="0">
              <a:solidFill>
                <a:srgbClr val="1F4E79"/>
              </a:solidFill>
              <a:latin typeface="Calibri"/>
            </a:endParaRPr>
          </a:p>
        </p:txBody>
      </p:sp>
      <p:cxnSp>
        <p:nvCxnSpPr>
          <p:cNvPr id="4" name="Connector 3">
            <a:extLst>
              <a:ext uri="{FF2B5EF4-FFF2-40B4-BE49-F238E27FC236}">
                <a16:creationId xmlns:a16="http://schemas.microsoft.com/office/drawing/2014/main" id="{7BEB944D-4CC0-FF6B-C59B-DD842963EFCD}"/>
              </a:ext>
            </a:extLst>
          </p:cNvPr>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1F789E36-39FD-1BC5-1904-ACE5CF6E75DE}"/>
              </a:ext>
            </a:extLst>
          </p:cNvPr>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a:extLst>
              <a:ext uri="{FF2B5EF4-FFF2-40B4-BE49-F238E27FC236}">
                <a16:creationId xmlns:a16="http://schemas.microsoft.com/office/drawing/2014/main" id="{A52679D8-AFE1-EBDD-12DC-062F5914C43C}"/>
              </a:ext>
            </a:extLst>
          </p:cNvPr>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a:extLst>
              <a:ext uri="{FF2B5EF4-FFF2-40B4-BE49-F238E27FC236}">
                <a16:creationId xmlns:a16="http://schemas.microsoft.com/office/drawing/2014/main" id="{47350F2C-7074-E797-3B66-F68823A68375}"/>
              </a:ext>
            </a:extLst>
          </p:cNvPr>
          <p:cNvSpPr/>
          <p:nvPr/>
        </p:nvSpPr>
        <p:spPr>
          <a:xfrm>
            <a:off x="548640" y="1371600"/>
            <a:ext cx="11109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69DE0D3E-C568-60AB-8B3E-60DE546B3341}"/>
              </a:ext>
            </a:extLst>
          </p:cNvPr>
          <p:cNvSpPr txBox="1"/>
          <p:nvPr/>
        </p:nvSpPr>
        <p:spPr>
          <a:xfrm>
            <a:off x="685800" y="1481328"/>
            <a:ext cx="5120640" cy="457200"/>
          </a:xfrm>
          <a:prstGeom prst="rect">
            <a:avLst/>
          </a:prstGeom>
          <a:noFill/>
        </p:spPr>
        <p:txBody>
          <a:bodyPr wrap="square" lIns="45720" rIns="45720" anchor="t">
            <a:spAutoFit/>
          </a:bodyPr>
          <a:lstStyle/>
          <a:p>
            <a:pPr algn="l"/>
            <a:r>
              <a:rPr lang="en-US" sz="2300" b="1" i="0" dirty="0">
                <a:solidFill>
                  <a:srgbClr val="1F4E79"/>
                </a:solidFill>
                <a:latin typeface="Calibri"/>
              </a:rPr>
              <a:t>Methodology</a:t>
            </a:r>
            <a:endParaRPr sz="2300" b="1" i="0" dirty="0">
              <a:solidFill>
                <a:srgbClr val="1F4E79"/>
              </a:solidFill>
              <a:latin typeface="Calibri"/>
            </a:endParaRPr>
          </a:p>
        </p:txBody>
      </p:sp>
      <p:sp>
        <p:nvSpPr>
          <p:cNvPr id="9" name="TextBox 8">
            <a:extLst>
              <a:ext uri="{FF2B5EF4-FFF2-40B4-BE49-F238E27FC236}">
                <a16:creationId xmlns:a16="http://schemas.microsoft.com/office/drawing/2014/main" id="{55B383A6-487C-07F9-0302-E1CE0A23BC32}"/>
              </a:ext>
            </a:extLst>
          </p:cNvPr>
          <p:cNvSpPr txBox="1"/>
          <p:nvPr/>
        </p:nvSpPr>
        <p:spPr>
          <a:xfrm>
            <a:off x="640080" y="1965960"/>
            <a:ext cx="5212080" cy="3939540"/>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Dissect Requirements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inputs, outputs, data models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what data will live in the CRM platform</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Delegate work to AI pair programmer</a:t>
            </a:r>
          </a:p>
          <a:p>
            <a:pPr marL="731520" lvl="1" indent="-228600">
              <a:spcAft>
                <a:spcPts val="600"/>
              </a:spcAft>
              <a:buChar char="•"/>
            </a:pPr>
            <a:r>
              <a:rPr lang="en-US" sz="2100" dirty="0">
                <a:solidFill>
                  <a:srgbClr val="1A1A1A"/>
                </a:solidFill>
                <a:latin typeface="Calibri"/>
              </a:rPr>
              <a:t>Custom Apex Classes</a:t>
            </a:r>
          </a:p>
          <a:p>
            <a:pPr marL="731520" lvl="1" indent="-228600">
              <a:spcAft>
                <a:spcPts val="600"/>
              </a:spcAft>
              <a:buChar char="•"/>
            </a:pPr>
            <a:r>
              <a:rPr lang="en-US" sz="2100" dirty="0">
                <a:solidFill>
                  <a:srgbClr val="1A1A1A"/>
                </a:solidFill>
                <a:latin typeface="Calibri"/>
              </a:rPr>
              <a:t>Deploying via Salesforce CLI</a:t>
            </a:r>
          </a:p>
          <a:p>
            <a:pPr marL="731520" lvl="1" indent="-228600">
              <a:spcAft>
                <a:spcPts val="600"/>
              </a:spcAft>
              <a:buChar char="•"/>
            </a:pPr>
            <a:r>
              <a:rPr lang="en-US" sz="2100" b="0" i="0" dirty="0">
                <a:solidFill>
                  <a:srgbClr val="1A1A1A"/>
                </a:solidFill>
                <a:latin typeface="Calibri"/>
              </a:rPr>
              <a:t>Automated Test Cases</a:t>
            </a:r>
          </a:p>
          <a:p>
            <a:pPr marL="731520" lvl="1" indent="-228600">
              <a:spcAft>
                <a:spcPts val="600"/>
              </a:spcAft>
              <a:buChar char="•"/>
            </a:pPr>
            <a:r>
              <a:rPr lang="en-US" sz="2100" dirty="0">
                <a:solidFill>
                  <a:srgbClr val="1A1A1A"/>
                </a:solidFill>
                <a:latin typeface="Calibri"/>
              </a:rPr>
              <a:t>Build custom objects in the CRM UI</a:t>
            </a:r>
            <a:endParaRPr lang="en-US" sz="2100" b="0" i="0" dirty="0">
              <a:solidFill>
                <a:srgbClr val="1A1A1A"/>
              </a:solidFill>
              <a:latin typeface="Calibri"/>
            </a:endParaRPr>
          </a:p>
          <a:p>
            <a:pPr marL="731520" lvl="1" indent="-228600">
              <a:spcAft>
                <a:spcPts val="600"/>
              </a:spcAft>
              <a:buChar char="•"/>
            </a:pPr>
            <a:r>
              <a:rPr lang="en-US" sz="2100" dirty="0">
                <a:solidFill>
                  <a:srgbClr val="1A1A1A"/>
                </a:solidFill>
                <a:latin typeface="Calibri"/>
              </a:rPr>
              <a:t>Specific UI Test Cases by human verifier</a:t>
            </a:r>
            <a:endParaRPr sz="2100" b="0" i="0" dirty="0">
              <a:solidFill>
                <a:srgbClr val="1A1A1A"/>
              </a:solidFill>
              <a:latin typeface="Calibri"/>
            </a:endParaRPr>
          </a:p>
        </p:txBody>
      </p:sp>
    </p:spTree>
    <p:extLst>
      <p:ext uri="{BB962C8B-B14F-4D97-AF65-F5344CB8AC3E}">
        <p14:creationId xmlns:p14="http://schemas.microsoft.com/office/powerpoint/2010/main" val="874216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The Architecture</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One agent and one button, sharing the same Apex services, prompt templates and checks</a:t>
            </a:r>
            <a:endParaRPr lang="en-US" sz="1500" dirty="0"/>
          </a:p>
        </p:txBody>
      </p:sp>
      <p:graphicFrame>
        <p:nvGraphicFramePr>
          <p:cNvPr id="5" name="Table 0"/>
          <p:cNvGraphicFramePr>
            <a:graphicFrameLocks noGrp="1"/>
          </p:cNvGraphicFramePr>
          <p:nvPr/>
        </p:nvGraphicFramePr>
        <p:xfrm>
          <a:off x="502920" y="1325880"/>
          <a:ext cx="11155680" cy="4590288"/>
        </p:xfrm>
        <a:graphic>
          <a:graphicData uri="http://schemas.openxmlformats.org/drawingml/2006/table">
            <a:tbl>
              <a:tblPr/>
              <a:tblGrid>
                <a:gridCol w="21945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Part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Built with</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Its job</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Objects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Client_Meeting__c, Research_Note__c, AI_Generation_Log__c, plus Account, Contact, Opportunity, Event/Task, Files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3 custom + standard objects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Meetings and notes in; summary, PDF and a log row per request out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Agent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 Assistant (v5), an Employee agent that runs as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Agentforce Builder (Agent Script)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banker’s chat entry point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Topics (subagents)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 Meetings (all 4 actions, 15 instructions), Off Topic, Ambiguous Question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Agentforce Builder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Routes each request; declines anything off topic</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Actions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Find Client Meetings, Generate Client Meeting Summary, Find Client, Answer Client Question; Generate Summary button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Apex invocables; quick action + Screen Flow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Find sets a guard variable; the AI action takes the record from it, never from the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Prompt templates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Client_Meeting_Summary _5 (Option A); Meeting_Prep_QA _2 (Option B), on GPT 5.4</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Prompt Builder (Flex)</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Ask for strict JSON with a source cited for every fact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Data sources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Account, open Opportunities, Contacts, activity, meeting notes, research notes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Apex grounding, run as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fact tagged [S#]; notes marked as untrusted; 12,000-character limit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Flow: Banker → agent or button → Find (one exact match) → Apex service → context → template → validate → save + log</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architecture.png"/>
          <p:cNvPicPr>
            <a:picLocks noChangeAspect="1"/>
          </p:cNvPicPr>
          <p:nvPr/>
        </p:nvPicPr>
        <p:blipFill>
          <a:blip r:embed="rId3"/>
          <a:stretch>
            <a:fillRect/>
          </a:stretch>
        </p:blipFill>
        <p:spPr>
          <a:xfrm>
            <a:off x="548640" y="45720"/>
            <a:ext cx="11247120" cy="6748272"/>
          </a:xfrm>
          <a:prstGeom prst="rect">
            <a:avLst/>
          </a:prstGeom>
        </p:spPr>
      </p:pic>
      <p:sp>
        <p:nvSpPr>
          <p:cNvPr id="4" name="TextBox 3"/>
          <p:cNvSpPr txBox="1"/>
          <p:nvPr/>
        </p:nvSpPr>
        <p:spPr>
          <a:xfrm>
            <a:off x="685800" y="228600"/>
            <a:ext cx="2011680" cy="548640"/>
          </a:xfrm>
          <a:prstGeom prst="rect">
            <a:avLst/>
          </a:prstGeom>
          <a:noFill/>
        </p:spPr>
        <p:txBody>
          <a:bodyPr wrap="square" lIns="45720" rIns="45720" anchor="t">
            <a:spAutoFit/>
          </a:bodyPr>
          <a:lstStyle/>
          <a:p>
            <a:pPr algn="l"/>
            <a:r>
              <a:rPr sz="2400" b="1" i="0">
                <a:solidFill>
                  <a:srgbClr val="1F4E79"/>
                </a:solidFill>
                <a:latin typeface="Calibri"/>
              </a:rPr>
              <a:t>Architecture</a:t>
            </a:r>
          </a:p>
        </p:txBody>
      </p:sp>
      <p:sp>
        <p:nvSpPr>
          <p:cNvPr id="5" name="TextBox 4"/>
          <p:cNvSpPr txBox="1"/>
          <p:nvPr/>
        </p:nvSpPr>
        <p:spPr>
          <a:xfrm>
            <a:off x="502920" y="6565392"/>
            <a:ext cx="7315200" cy="27432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565392"/>
            <a:ext cx="1005840" cy="274320"/>
          </a:xfrm>
          <a:prstGeom prst="rect">
            <a:avLst/>
          </a:prstGeom>
          <a:noFill/>
        </p:spPr>
        <p:txBody>
          <a:bodyPr wrap="square" lIns="45720" rIns="45720" anchor="t">
            <a:spAutoFit/>
          </a:bodyPr>
          <a:lstStyle/>
          <a:p>
            <a:pPr algn="r"/>
            <a:r>
              <a:rPr sz="1000" b="0" i="0">
                <a:solidFill>
                  <a:srgbClr val="595959"/>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Design Decision: How the AI gets Client Facts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I chose an Apex grounding class over the no-code options, because the answer has to be checkable</a:t>
            </a:r>
            <a:endParaRPr lang="en-US" sz="1500" dirty="0"/>
          </a:p>
        </p:txBody>
      </p:sp>
      <p:graphicFrame>
        <p:nvGraphicFramePr>
          <p:cNvPr id="5" name="Table 0"/>
          <p:cNvGraphicFramePr>
            <a:graphicFrameLocks noGrp="1"/>
          </p:cNvGraphicFramePr>
          <p:nvPr/>
        </p:nvGraphicFramePr>
        <p:xfrm>
          <a:off x="502920" y="1325880"/>
          <a:ext cx="11155680" cy="4069080"/>
        </p:xfrm>
        <a:graphic>
          <a:graphicData uri="http://schemas.openxmlformats.org/drawingml/2006/table">
            <a:tbl>
              <a:tblPr/>
              <a:tblGrid>
                <a:gridCol w="265176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192024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Option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it works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not (or why)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Related-list merge fields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Prompt Builder pulls child records straight into the prompt, with no code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Can’t filter, tag sources, mark notes as untrusted or cap the size; one merge field per list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 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Flow grounding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Flow gathers the records and hands text to the template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Can filter, but tagging, size limits and cut order are awkward to build and hard to unit-test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 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Data Cloud retriever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Semantic search over large unstructured documents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Built for big document libraries; adds Data Cloud cost; our facts are structured CRM records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Later, for research libraries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Apex grounding class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ClientContextBuilder runs as the banker and returns one tagged context block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Tags every fact [S#], marks notes as untrusted, enforces a 12,000-character limit, and is unit-tested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Chosen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Business outcome: every fact the banker sees can be traced to a record, and the same class is reused by the next agents.</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056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7532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Why Use an Agent?</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What breaks without it, for one banker and across a 30+ agent backlog</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3255335798"/>
              </p:ext>
            </p:extLst>
          </p:nvPr>
        </p:nvGraphicFramePr>
        <p:xfrm>
          <a:off x="502920" y="1325880"/>
          <a:ext cx="11155680" cy="3776472"/>
        </p:xfrm>
        <a:graphic>
          <a:graphicData uri="http://schemas.openxmlformats.org/drawingml/2006/table">
            <a:tbl>
              <a:tblPr/>
              <a:tblGrid>
                <a:gridCol w="24688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65176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Problem</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breaks today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this build does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Business outcome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Writing up meetings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Users turn rough notes into summaries by hand, late and rushed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click: a structured summary, saved on the record and as a PDF</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User time goes back to clients or other tasks that are not trivial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Mistakes in front of clients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wrong amount or a missed next step reaches the client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Code checks every amount, source and next step before saving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Raises discrepancies to user avoiding lower client and reputational risk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Shadow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paste client notes into public AI tools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AI inside Salesforce, as the banker, through the Einstein Trust Layer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Client data stays inside the bank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30+ agents, 30 designs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Each team solves data access, invented facts and failures its own way</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reusable pattern: Context → Template → Validate → Fallback →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Agents 2 to 30 ship faster and cheaper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Compliance review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agent is a new design to approve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same checks, fallback and permissions every time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Approve the pattern once, then review only what changes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Without a shared pattern, one bad AI answer can pause the whole agent program.</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0">
            <a:extLst>
              <a:ext uri="{FF2B5EF4-FFF2-40B4-BE49-F238E27FC236}">
                <a16:creationId xmlns:a16="http://schemas.microsoft.com/office/drawing/2014/main" id="{F3225FB8-19DE-FDCD-E59B-08AAE51C0AF0}"/>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7" name="Text 1">
            <a:extLst>
              <a:ext uri="{FF2B5EF4-FFF2-40B4-BE49-F238E27FC236}">
                <a16:creationId xmlns:a16="http://schemas.microsoft.com/office/drawing/2014/main" id="{C921EF6F-FC4F-5D5A-A9CA-95CA4DEADBFC}"/>
              </a:ext>
            </a:extLst>
          </p:cNvPr>
          <p:cNvSpPr txBox="1"/>
          <p:nvPr/>
        </p:nvSpPr>
        <p:spPr>
          <a:xfrm>
            <a:off x="533400" y="286077"/>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How an Answer is Checked</a:t>
            </a:r>
            <a:endParaRPr lang="en-US" sz="3000" dirty="0"/>
          </a:p>
        </p:txBody>
      </p:sp>
      <p:sp>
        <p:nvSpPr>
          <p:cNvPr id="9" name="Text 2">
            <a:extLst>
              <a:ext uri="{FF2B5EF4-FFF2-40B4-BE49-F238E27FC236}">
                <a16:creationId xmlns:a16="http://schemas.microsoft.com/office/drawing/2014/main" id="{533F590D-F332-7950-0EF2-E9F9F1F91FC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Code checks every AI answer before a banker sees it, and fixes or blocks what fails</a:t>
            </a:r>
            <a:endParaRPr lang="en-US" sz="1500" dirty="0"/>
          </a:p>
        </p:txBody>
      </p:sp>
      <p:graphicFrame>
        <p:nvGraphicFramePr>
          <p:cNvPr id="11" name="Table 0">
            <a:extLst>
              <a:ext uri="{FF2B5EF4-FFF2-40B4-BE49-F238E27FC236}">
                <a16:creationId xmlns:a16="http://schemas.microsoft.com/office/drawing/2014/main" id="{0C725B60-833D-C396-D07B-D2BB7332CC3A}"/>
              </a:ext>
            </a:extLst>
          </p:cNvPr>
          <p:cNvGraphicFramePr>
            <a:graphicFrameLocks noGrp="1"/>
          </p:cNvGraphicFramePr>
          <p:nvPr>
            <p:extLst>
              <p:ext uri="{D42A27DB-BD31-4B8C-83A1-F6EECF244321}">
                <p14:modId xmlns:p14="http://schemas.microsoft.com/office/powerpoint/2010/main" val="3802449957"/>
              </p:ext>
            </p:extLst>
          </p:nvPr>
        </p:nvGraphicFramePr>
        <p:xfrm>
          <a:off x="502920" y="1435608"/>
          <a:ext cx="11155680" cy="3794760"/>
        </p:xfrm>
        <a:graphic>
          <a:graphicData uri="http://schemas.openxmlformats.org/drawingml/2006/table">
            <a:tbl>
              <a:tblPr/>
              <a:tblGrid>
                <a:gridCol w="2996060">
                  <a:extLst>
                    <a:ext uri="{9D8B030D-6E8A-4147-A177-3AD203B41FA5}">
                      <a16:colId xmlns:a16="http://schemas.microsoft.com/office/drawing/2014/main" val="20000"/>
                    </a:ext>
                  </a:extLst>
                </a:gridCol>
                <a:gridCol w="23074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Check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catches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Real example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Right format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broken or cut-off AI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one retry, then a labelled summary built only from CRM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GPT 5.4 run on MTG-0016 returned broken JSON, so the service retried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Every source and amount is real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Made-up figures or sources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We added a fake “$5B deal” to a saved summary on purpose: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Every number, date and name is in      the source it cites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Calculated numbers, or 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“What’s Halverson’s EBITDA margin?” → Not answerable; a calculated 1.4% would be blocked (BA-18)</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Next steps match the notes; code sets the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Shortened steps, or the wrong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Fixed automatically; status says “Repaired”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“send buyer list” → “send buyer list (TB)”, owner Unassigned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Notes vs CRM amounts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CRM figures that are out of date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Added to Review Items for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Notes say Keel is ~$1.1bn; CRM says USD 850,000,000</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3" name="Text 3">
            <a:extLst>
              <a:ext uri="{FF2B5EF4-FFF2-40B4-BE49-F238E27FC236}">
                <a16:creationId xmlns:a16="http://schemas.microsoft.com/office/drawing/2014/main" id="{8125CC8A-B4EA-9321-B47E-FAB77D534C09}"/>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guarantee lives in code, not in the prompt: the AI writes, code checks.</a:t>
            </a:r>
            <a:endParaRPr lang="en-US" sz="1100" dirty="0"/>
          </a:p>
        </p:txBody>
      </p:sp>
      <p:sp>
        <p:nvSpPr>
          <p:cNvPr id="15" name="Text 4">
            <a:extLst>
              <a:ext uri="{FF2B5EF4-FFF2-40B4-BE49-F238E27FC236}">
                <a16:creationId xmlns:a16="http://schemas.microsoft.com/office/drawing/2014/main" id="{7A802E2A-CF9E-B1D2-6DB1-54396FBF845A}"/>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7" name="Text 5">
            <a:extLst>
              <a:ext uri="{FF2B5EF4-FFF2-40B4-BE49-F238E27FC236}">
                <a16:creationId xmlns:a16="http://schemas.microsoft.com/office/drawing/2014/main" id="{FFBFE379-CF7F-809F-2EEE-8D6868E77A0C}"/>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6</a:t>
            </a:r>
            <a:endParaRPr lang="en-US" sz="1000" dirty="0"/>
          </a:p>
        </p:txBody>
      </p:sp>
    </p:spTree>
    <p:extLst>
      <p:ext uri="{BB962C8B-B14F-4D97-AF65-F5344CB8AC3E}">
        <p14:creationId xmlns:p14="http://schemas.microsoft.com/office/powerpoint/2010/main" val="377090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37EED923-A4B5-C074-9575-CF1B9D4F4D0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17C91F00-8C68-5432-6346-4F2DDF5455A9}"/>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Security Model</a:t>
            </a:r>
            <a:endParaRPr lang="en-US" sz="3000" dirty="0"/>
          </a:p>
        </p:txBody>
      </p:sp>
      <p:sp>
        <p:nvSpPr>
          <p:cNvPr id="7" name="Text 2">
            <a:extLst>
              <a:ext uri="{FF2B5EF4-FFF2-40B4-BE49-F238E27FC236}">
                <a16:creationId xmlns:a16="http://schemas.microsoft.com/office/drawing/2014/main" id="{22B957DB-6011-7384-0EAB-53E3E916C222}"/>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Who can see what, and how client data and links stay safe</a:t>
            </a:r>
            <a:endParaRPr lang="en-US" sz="1500" dirty="0"/>
          </a:p>
        </p:txBody>
      </p:sp>
      <p:graphicFrame>
        <p:nvGraphicFramePr>
          <p:cNvPr id="9" name="Table 0">
            <a:extLst>
              <a:ext uri="{FF2B5EF4-FFF2-40B4-BE49-F238E27FC236}">
                <a16:creationId xmlns:a16="http://schemas.microsoft.com/office/drawing/2014/main" id="{6F0BF09A-2EB0-5F4B-6927-7747D3F786AD}"/>
              </a:ext>
            </a:extLst>
          </p:cNvPr>
          <p:cNvGraphicFramePr>
            <a:graphicFrameLocks noGrp="1"/>
          </p:cNvGraphicFramePr>
          <p:nvPr>
            <p:extLst>
              <p:ext uri="{D42A27DB-BD31-4B8C-83A1-F6EECF244321}">
                <p14:modId xmlns:p14="http://schemas.microsoft.com/office/powerpoint/2010/main" val="2568618526"/>
              </p:ext>
            </p:extLst>
          </p:nvPr>
        </p:nvGraphicFramePr>
        <p:xfrm>
          <a:off x="502920" y="1325880"/>
          <a:ext cx="11155680" cy="4553712"/>
        </p:xfrm>
        <a:graphic>
          <a:graphicData uri="http://schemas.openxmlformats.org/drawingml/2006/table">
            <a:tbl>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The risk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Proof</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Who sees what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uses records the banker shouldn’t see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including the facts given to the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Code scan: all 15 queries run as the user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Minimum Access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are given more access than they need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Bankers need only two permission sets: Banker_Summary and Prompt Template User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test banker with only those two ran summaries and Q&amp;A (TC-22)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The AI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It holds raw client data</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Private: Admins can read it; bankers can’t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test banker had no log access (TC-22,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Links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link opens the wrong record or an outside site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Links are built in code for the exact record; only the org’s own domains are trusted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wrong-record link (BA-13) can no longer happen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Instructions hidden in notes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follows “invent a $5B deal”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Notes are marked as data; injected lines are quoted for review, never followed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MTG-0016: flagged, never followed (TC-04)</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Halverson facts appear in a Northwind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 client check runs before the AI; other clients’ names must be in a cited source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Clean switch between clients (TC-13); a planted leak was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11" name="Text 3">
            <a:extLst>
              <a:ext uri="{FF2B5EF4-FFF2-40B4-BE49-F238E27FC236}">
                <a16:creationId xmlns:a16="http://schemas.microsoft.com/office/drawing/2014/main" id="{36E88796-A561-1D25-6693-FF6946F62E3F}"/>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Record-level sharing is enforced by Salesforce on every query; this test org has open sharing, so it still needs a private-sharing test.</a:t>
            </a:r>
            <a:endParaRPr lang="en-US" sz="1100" dirty="0"/>
          </a:p>
        </p:txBody>
      </p:sp>
      <p:sp>
        <p:nvSpPr>
          <p:cNvPr id="13" name="Text 4">
            <a:extLst>
              <a:ext uri="{FF2B5EF4-FFF2-40B4-BE49-F238E27FC236}">
                <a16:creationId xmlns:a16="http://schemas.microsoft.com/office/drawing/2014/main" id="{273D0334-4F9C-1A6D-0C15-E550906651FB}"/>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337E998-3F21-BEA4-2891-577584DB05BF}"/>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9</a:t>
            </a:r>
            <a:endParaRPr lang="en-US" sz="1000" dirty="0"/>
          </a:p>
        </p:txBody>
      </p:sp>
    </p:spTree>
    <p:extLst>
      <p:ext uri="{BB962C8B-B14F-4D97-AF65-F5344CB8AC3E}">
        <p14:creationId xmlns:p14="http://schemas.microsoft.com/office/powerpoint/2010/main" val="2525794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extLst>
              <p:ext uri="{D42A27DB-BD31-4B8C-83A1-F6EECF244321}">
                <p14:modId xmlns:p14="http://schemas.microsoft.com/office/powerpoint/2010/main" val="4093105599"/>
              </p:ext>
            </p:extLst>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502920">
                <a:tc>
                  <a:txBody>
                    <a:bodyPr/>
                    <a:lstStyle/>
                    <a:p>
                      <a:r>
                        <a:rPr sz="1500" b="1" i="0">
                          <a:solidFill>
                            <a:srgbClr val="FFFFFF"/>
                          </a:solidFill>
                          <a:latin typeface="Calibri"/>
                        </a:rPr>
                        <a:t>Measure</a:t>
                      </a:r>
                    </a:p>
                  </a:txBody>
                  <a:tcPr marL="73152" marR="73152" marT="36576" marB="36576" anchor="ctr">
                    <a:solidFill>
                      <a:srgbClr val="1F4E79"/>
                    </a:solidFill>
                  </a:tcPr>
                </a:tc>
                <a:tc>
                  <a:txBody>
                    <a:bodyPr/>
                    <a:lstStyle/>
                    <a:p>
                      <a:r>
                        <a:rPr sz="1500" b="1" i="0">
                          <a:solidFill>
                            <a:srgbClr val="FFFFFF"/>
                          </a:solidFill>
                          <a:latin typeface="Calibri"/>
                        </a:rPr>
                        <a:t>v1</a:t>
                      </a:r>
                    </a:p>
                  </a:txBody>
                  <a:tcPr marL="73152" marR="73152" marT="36576" marB="36576" anchor="ctr">
                    <a:solidFill>
                      <a:srgbClr val="1F4E79"/>
                    </a:solidFill>
                  </a:tcPr>
                </a:tc>
                <a:tc>
                  <a:txBody>
                    <a:bodyPr/>
                    <a:lstStyle/>
                    <a:p>
                      <a:r>
                        <a:rPr sz="1500" b="1" i="0">
                          <a:solidFill>
                            <a:srgbClr val="FFFFFF"/>
                          </a:solidFill>
                          <a:latin typeface="Calibri"/>
                        </a:rPr>
                        <a:t>v2</a:t>
                      </a:r>
                    </a:p>
                  </a:txBody>
                  <a:tcPr marL="73152" marR="73152" marT="36576" marB="36576" anchor="ctr">
                    <a:solidFill>
                      <a:srgbClr val="1F4E79"/>
                    </a:solidFill>
                  </a:tcPr>
                </a:tc>
                <a:tc>
                  <a:txBody>
                    <a:bodyPr/>
                    <a:lstStyle/>
                    <a:p>
                      <a:r>
                        <a:rPr sz="1500" b="1" i="0">
                          <a:solidFill>
                            <a:srgbClr val="FFFFFF"/>
                          </a:solidFill>
                          <a:latin typeface="Calibri"/>
                        </a:rPr>
                        <a:t>v3</a:t>
                      </a:r>
                    </a:p>
                  </a:txBody>
                  <a:tcPr marL="73152" marR="73152" marT="36576" marB="36576" anchor="ctr">
                    <a:solidFill>
                      <a:srgbClr val="1F4E79"/>
                    </a:solidFill>
                  </a:tcPr>
                </a:tc>
                <a:tc>
                  <a:txBody>
                    <a:bodyPr/>
                    <a:lstStyle/>
                    <a:p>
                      <a:r>
                        <a:rPr sz="1500" b="1" i="0">
                          <a:solidFill>
                            <a:srgbClr val="FFFFFF"/>
                          </a:solidFill>
                          <a:latin typeface="Calibri"/>
                        </a:rPr>
                        <a:t>v4 Mini</a:t>
                      </a:r>
                    </a:p>
                  </a:txBody>
                  <a:tcPr marL="73152" marR="73152" marT="36576" marB="36576" anchor="ctr">
                    <a:solidFill>
                      <a:srgbClr val="1F4E79"/>
                    </a:solidFill>
                  </a:tcPr>
                </a:tc>
                <a:tc>
                  <a:txBody>
                    <a:bodyPr/>
                    <a:lstStyle/>
                    <a:p>
                      <a:r>
                        <a:rPr sz="1500" b="1" i="0">
                          <a:solidFill>
                            <a:srgbClr val="FFFFFF"/>
                          </a:solidFill>
                          <a:latin typeface="Calibri"/>
                        </a:rPr>
                        <a:t>v4 GPT 5.4</a:t>
                      </a:r>
                    </a:p>
                  </a:txBody>
                  <a:tcPr marL="73152" marR="73152" marT="36576" marB="36576" anchor="ctr">
                    <a:solidFill>
                      <a:srgbClr val="1F4E79"/>
                    </a:solidFill>
                  </a:tcPr>
                </a:tc>
                <a:extLst>
                  <a:ext uri="{0D108BD9-81ED-4DB2-BD59-A6C34878D82A}">
                    <a16:rowId xmlns:a16="http://schemas.microsoft.com/office/drawing/2014/main" val="10000"/>
                  </a:ext>
                </a:extLst>
              </a:tr>
              <a:tr h="502920">
                <a:tc>
                  <a:txBody>
                    <a:bodyPr/>
                    <a:lstStyle/>
                    <a:p>
                      <a:r>
                        <a:rPr sz="1500" b="0" i="0">
                          <a:solidFill>
                            <a:srgbClr val="1A1A1A"/>
                          </a:solidFill>
                          <a:latin typeface="Calibri"/>
                        </a:rPr>
                        <a:t>Valid JSON</a:t>
                      </a:r>
                    </a:p>
                  </a:txBody>
                  <a:tcPr marL="73152" marR="73152" marT="36576" marB="36576" anchor="ctr">
                    <a:solidFill>
                      <a:srgbClr val="FFFFFF"/>
                    </a:solidFill>
                  </a:tcPr>
                </a:tc>
                <a:tc>
                  <a:txBody>
                    <a:bodyPr/>
                    <a:lstStyle/>
                    <a:p>
                      <a:r>
                        <a:rPr lang="en-US" sz="1500" b="0" i="0" dirty="0">
                          <a:solidFill>
                            <a:srgbClr val="1A1A1A"/>
                          </a:solidFill>
                          <a:latin typeface="Calibri"/>
                        </a:rPr>
                        <a:t>N/A</a:t>
                      </a:r>
                      <a:endParaRPr sz="1500" b="0" i="0" dirty="0">
                        <a:solidFill>
                          <a:srgbClr val="1A1A1A"/>
                        </a:solidFill>
                        <a:latin typeface="Calibri"/>
                      </a:endParaRP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6/6</a:t>
                      </a:r>
                    </a:p>
                  </a:txBody>
                  <a:tcPr marL="73152" marR="73152" marT="36576" marB="36576" anchor="ctr">
                    <a:solidFill>
                      <a:srgbClr val="FFFFFF"/>
                    </a:solidFill>
                  </a:tcPr>
                </a:tc>
                <a:tc>
                  <a:txBody>
                    <a:bodyPr/>
                    <a:lstStyle/>
                    <a:p>
                      <a:r>
                        <a:rPr lang="en-US" sz="1500" b="0" i="0" dirty="0">
                          <a:solidFill>
                            <a:srgbClr val="1A1A1A"/>
                          </a:solidFill>
                          <a:latin typeface="Calibri"/>
                        </a:rPr>
                        <a:t>6</a:t>
                      </a:r>
                      <a:r>
                        <a:rPr sz="1500" b="0" i="0" dirty="0">
                          <a:solidFill>
                            <a:srgbClr val="1A1A1A"/>
                          </a:solidFill>
                          <a:latin typeface="Calibri"/>
                        </a:rPr>
                        <a:t>/6</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r>
                        <a:rPr sz="1500" b="0" i="0">
                          <a:solidFill>
                            <a:srgbClr val="1A1A1A"/>
                          </a:solidFill>
                          <a:latin typeface="Calibri"/>
                        </a:rPr>
                        <a:t>Invented facts</a:t>
                      </a:r>
                    </a:p>
                  </a:txBody>
                  <a:tcPr marL="73152" marR="73152" marT="36576" marB="36576" anchor="ctr">
                    <a:solidFill>
                      <a:srgbClr val="EAF1F8"/>
                    </a:solidFill>
                  </a:tcPr>
                </a:tc>
                <a:tc>
                  <a:txBody>
                    <a:bodyPr/>
                    <a:lstStyle/>
                    <a:p>
                      <a:r>
                        <a:rPr sz="1500" b="0" i="0">
                          <a:solidFill>
                            <a:srgbClr val="1A1A1A"/>
                          </a:solidFill>
                          <a:latin typeface="Calibri"/>
                        </a:rPr>
                        <a:t>many</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extLst>
                  <a:ext uri="{0D108BD9-81ED-4DB2-BD59-A6C34878D82A}">
                    <a16:rowId xmlns:a16="http://schemas.microsoft.com/office/drawing/2014/main" val="10002"/>
                  </a:ext>
                </a:extLst>
              </a:tr>
              <a:tr h="502920">
                <a:tc>
                  <a:txBody>
                    <a:bodyPr/>
                    <a:lstStyle/>
                    <a:p>
                      <a:r>
                        <a:rPr sz="1500" b="0" i="0">
                          <a:solidFill>
                            <a:srgbClr val="1A1A1A"/>
                          </a:solidFill>
                          <a:latin typeface="Calibri"/>
                        </a:rPr>
                        <a:t>Wrong statements</a:t>
                      </a:r>
                    </a:p>
                  </a:txBody>
                  <a:tcPr marL="73152" marR="73152" marT="36576" marB="36576" anchor="ctr">
                    <a:solidFill>
                      <a:srgbClr val="FFFFFF"/>
                    </a:solidFill>
                  </a:tcPr>
                </a:tc>
                <a:tc>
                  <a:txBody>
                    <a:bodyPr/>
                    <a:lstStyle/>
                    <a:p>
                      <a:r>
                        <a:rPr sz="1500" b="0" i="0">
                          <a:solidFill>
                            <a:srgbClr val="1A1A1A"/>
                          </a:solidFill>
                          <a:latin typeface="Calibri"/>
                        </a:rPr>
                        <a:t>–</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lang="en-US" sz="1500" b="0" i="0" dirty="0">
                          <a:solidFill>
                            <a:srgbClr val="1A1A1A"/>
                          </a:solidFill>
                          <a:latin typeface="Calibri"/>
                        </a:rPr>
                        <a:t>4</a:t>
                      </a:r>
                      <a:endParaRPr sz="1500" b="0" i="0" dirty="0">
                        <a:solidFill>
                          <a:srgbClr val="1A1A1A"/>
                        </a:solidFill>
                        <a:latin typeface="Calibri"/>
                      </a:endParaRPr>
                    </a:p>
                  </a:txBody>
                  <a:tcPr marL="73152" marR="73152" marT="36576" marB="36576" anchor="ctr">
                    <a:solidFill>
                      <a:srgbClr val="FFFFFF"/>
                    </a:solidFill>
                  </a:tcPr>
                </a:tc>
                <a:tc>
                  <a:txBody>
                    <a:bodyPr/>
                    <a:lstStyle/>
                    <a:p>
                      <a:r>
                        <a:rPr lang="en-US" sz="1500" b="0" i="0" dirty="0">
                          <a:solidFill>
                            <a:srgbClr val="1A1A1A"/>
                          </a:solidFill>
                          <a:latin typeface="Calibri"/>
                        </a:rPr>
                        <a:t>1</a:t>
                      </a:r>
                      <a:endParaRPr sz="1500" b="0" i="0" dirty="0">
                        <a:solidFill>
                          <a:srgbClr val="1A1A1A"/>
                        </a:solidFill>
                        <a:latin typeface="Calibri"/>
                      </a:endParaRP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r>
                        <a:rPr sz="1500" b="0" i="0">
                          <a:solidFill>
                            <a:srgbClr val="1A1A1A"/>
                          </a:solidFill>
                          <a:latin typeface="Calibri"/>
                        </a:rPr>
                        <a:t>Outputs with no error</a:t>
                      </a:r>
                    </a:p>
                  </a:txBody>
                  <a:tcPr marL="73152" marR="73152" marT="36576" marB="36576" anchor="ctr">
                    <a:solidFill>
                      <a:srgbClr val="EAF1F8"/>
                    </a:solidFill>
                  </a:tcPr>
                </a:tc>
                <a:tc>
                  <a:txBody>
                    <a:bodyPr/>
                    <a:lstStyle/>
                    <a:p>
                      <a:r>
                        <a:rPr sz="1500" b="0" i="0">
                          <a:solidFill>
                            <a:srgbClr val="1A1A1A"/>
                          </a:solidFill>
                          <a:latin typeface="Calibri"/>
                        </a:rPr>
                        <a:t>0/3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1/6</a:t>
                      </a:r>
                    </a:p>
                  </a:txBody>
                  <a:tcPr marL="73152" marR="73152" marT="36576" marB="36576" anchor="ctr">
                    <a:solidFill>
                      <a:srgbClr val="EAF1F8"/>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EAF1F8"/>
                    </a:solidFill>
                  </a:tcPr>
                </a:tc>
                <a:extLst>
                  <a:ext uri="{0D108BD9-81ED-4DB2-BD59-A6C34878D82A}">
                    <a16:rowId xmlns:a16="http://schemas.microsoft.com/office/drawing/2014/main" val="10004"/>
                  </a:ext>
                </a:extLst>
              </a:tr>
              <a:tr h="502920">
                <a:tc>
                  <a:txBody>
                    <a:bodyPr/>
                    <a:lstStyle/>
                    <a:p>
                      <a:r>
                        <a:rPr sz="1500" b="0" i="0">
                          <a:solidFill>
                            <a:srgbClr val="1A1A1A"/>
                          </a:solidFill>
                          <a:latin typeface="Calibri"/>
                        </a:rPr>
                        <a:t>Attendees as written</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2/3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FFFFFF"/>
                    </a:solidFill>
                  </a:tcPr>
                </a:tc>
                <a:tc>
                  <a:txBody>
                    <a:bodyPr/>
                    <a:lstStyle/>
                    <a:p>
                      <a:r>
                        <a:rPr sz="1500" b="0" i="0" dirty="0">
                          <a:solidFill>
                            <a:srgbClr val="1A1A1A"/>
                          </a:solidFill>
                          <a:latin typeface="Calibri"/>
                        </a:rPr>
                        <a:t>6/6</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58200" y="1481328"/>
            <a:ext cx="3063240" cy="457200"/>
          </a:xfrm>
          <a:prstGeom prst="rect">
            <a:avLst/>
          </a:prstGeom>
          <a:noFill/>
        </p:spPr>
        <p:txBody>
          <a:bodyPr wrap="square" lIns="45720" rIns="45720" anchor="t">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49FDDEC-FA65-212B-AFAF-6ADEF750797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C5758CA1-2C97-D241-1BEA-52C8BC6360E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Testing approach and results</a:t>
            </a:r>
            <a:endParaRPr lang="en-US" sz="3000" dirty="0"/>
          </a:p>
        </p:txBody>
      </p:sp>
      <p:sp>
        <p:nvSpPr>
          <p:cNvPr id="7" name="Text 2">
            <a:extLst>
              <a:ext uri="{FF2B5EF4-FFF2-40B4-BE49-F238E27FC236}">
                <a16:creationId xmlns:a16="http://schemas.microsoft.com/office/drawing/2014/main" id="{5F8505E4-86ED-6852-EA2C-3DA09A89F00E}"/>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26 test cases: 20 Pass, 4 Fail, 2 Not run by decision</a:t>
            </a:r>
            <a:endParaRPr lang="en-US" sz="1500" dirty="0"/>
          </a:p>
        </p:txBody>
      </p:sp>
      <p:graphicFrame>
        <p:nvGraphicFramePr>
          <p:cNvPr id="9" name="Table 0">
            <a:extLst>
              <a:ext uri="{FF2B5EF4-FFF2-40B4-BE49-F238E27FC236}">
                <a16:creationId xmlns:a16="http://schemas.microsoft.com/office/drawing/2014/main" id="{93BCF1E6-D83A-415B-7E17-C80C6651E771}"/>
              </a:ext>
            </a:extLst>
          </p:cNvPr>
          <p:cNvGraphicFramePr>
            <a:graphicFrameLocks noGrp="1"/>
          </p:cNvGraphicFramePr>
          <p:nvPr>
            <p:extLst>
              <p:ext uri="{D42A27DB-BD31-4B8C-83A1-F6EECF244321}">
                <p14:modId xmlns:p14="http://schemas.microsoft.com/office/powerpoint/2010/main" val="50090569"/>
              </p:ext>
            </p:extLst>
          </p:nvPr>
        </p:nvGraphicFramePr>
        <p:xfrm>
          <a:off x="502920" y="1325880"/>
          <a:ext cx="11155680" cy="4480560"/>
        </p:xfrm>
        <a:graphic>
          <a:graphicData uri="http://schemas.openxmlformats.org/drawingml/2006/table">
            <a:tbl>
              <a:tblPr/>
              <a:tblGrid>
                <a:gridCol w="24688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Practice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did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Pass criteria written first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Every test and its pass rule was committed to GitHub before any test ran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Results can’t be fitted to the tests afterwards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Committed test cases before the first run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Evidence after the change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Each result points to a log record created after the last deploy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we tested what is actually deployed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Nothing changed during testing; all 21 log rows accounted for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Replay, then break it on purpose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Saved AI answers re-run through the checks, then deliberately broken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the checks really fire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All 3 planted errors were blocked (TC-03)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A Holdout Client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client “Meridian” was kept unseen while building, then ran once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 test on data the system has never seen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6 of 8 passed; found the two name issues (“RK”, “P. Raman”)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Automated tests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code tests using a stand-in for the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Every failure path tested without calling the real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of 173 pass; every class at 90%+ coverage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1314481A-C5F1-6254-D4B0-F39385B79E0A}"/>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4 fails: 2 where the chat trimmed or replayed output (TC-13, TC-15), and 2 name findings (TC-19, TC-21). No made-up number reached a banker.</a:t>
            </a:r>
            <a:endParaRPr lang="en-US" sz="1100" dirty="0"/>
          </a:p>
        </p:txBody>
      </p:sp>
      <p:sp>
        <p:nvSpPr>
          <p:cNvPr id="13" name="Text 4">
            <a:extLst>
              <a:ext uri="{FF2B5EF4-FFF2-40B4-BE49-F238E27FC236}">
                <a16:creationId xmlns:a16="http://schemas.microsoft.com/office/drawing/2014/main" id="{5FD79458-5A50-89CF-E5C2-8454864842B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60AA4066-3BF4-A1EC-F33C-974D0DF63C8B}"/>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10</a:t>
            </a:r>
            <a:endParaRPr lang="en-US" sz="1000" dirty="0"/>
          </a:p>
        </p:txBody>
      </p:sp>
    </p:spTree>
    <p:extLst>
      <p:ext uri="{BB962C8B-B14F-4D97-AF65-F5344CB8AC3E}">
        <p14:creationId xmlns:p14="http://schemas.microsoft.com/office/powerpoint/2010/main" val="223419860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9E30AA4-C443-5197-10A8-4367AA746C86}"/>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712ADB2A-1195-E0C0-455B-0231D2B48D2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What went wrong, and what I learned</a:t>
            </a:r>
            <a:endParaRPr lang="en-US" sz="3000" dirty="0"/>
          </a:p>
        </p:txBody>
      </p:sp>
      <p:sp>
        <p:nvSpPr>
          <p:cNvPr id="7" name="Text 2">
            <a:extLst>
              <a:ext uri="{FF2B5EF4-FFF2-40B4-BE49-F238E27FC236}">
                <a16:creationId xmlns:a16="http://schemas.microsoft.com/office/drawing/2014/main" id="{5E337940-4593-F7C2-22BD-76A9344DBA2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Five real failures from the build log, and what each one changed</a:t>
            </a:r>
            <a:endParaRPr lang="en-US" sz="1500" dirty="0"/>
          </a:p>
        </p:txBody>
      </p:sp>
      <p:graphicFrame>
        <p:nvGraphicFramePr>
          <p:cNvPr id="9" name="Table 0">
            <a:extLst>
              <a:ext uri="{FF2B5EF4-FFF2-40B4-BE49-F238E27FC236}">
                <a16:creationId xmlns:a16="http://schemas.microsoft.com/office/drawing/2014/main" id="{764ED743-4A28-BABA-D832-2BF94AC12029}"/>
              </a:ext>
            </a:extLst>
          </p:cNvPr>
          <p:cNvGraphicFramePr>
            <a:graphicFrameLocks noGrp="1"/>
          </p:cNvGraphicFramePr>
          <p:nvPr>
            <p:extLst>
              <p:ext uri="{D42A27DB-BD31-4B8C-83A1-F6EECF244321}">
                <p14:modId xmlns:p14="http://schemas.microsoft.com/office/powerpoint/2010/main" val="2673876989"/>
              </p:ext>
            </p:extLst>
          </p:nvPr>
        </p:nvGraphicFramePr>
        <p:xfrm>
          <a:off x="502920" y="1325880"/>
          <a:ext cx="11155680" cy="3703320"/>
        </p:xfrm>
        <a:graphic>
          <a:graphicData uri="http://schemas.openxmlformats.org/drawingml/2006/table">
            <a:tbl>
              <a:tblPr/>
              <a:tblGrid>
                <a:gridCol w="3017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was a problem</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changed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Lesson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A missing permission was retried and reported as “did not pass the checks”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was told the wrong cause, and the retry doubled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Errors are sorted by cause; permission errors aren’t retried and are named clearly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Name the cause the code actually saw</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The AI wrote a link to the wrong meeting (BA-13)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open the wrong client’s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Links are built only in code, for the exact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Links are facts, so code makes them</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An old “always find meetings first” rule broke client questions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Client questions got a meeting list instead of an answer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Rules now depend on what the banker asks (agent v5)</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When an agent gains a job, re-read its old rules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chat replayed an old summary as new (BA-24)</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think it was fresh</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The save time is now in the message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Anything that must be checkable goes in code-written output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AE7B5DD3-AA9B-6EB2-5F4A-CABADAFAAED1}"/>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Every failure is recorded in BUILD_LOG.md, with the fix and the test that proved it.</a:t>
            </a:r>
            <a:endParaRPr lang="en-US" sz="1100" dirty="0"/>
          </a:p>
        </p:txBody>
      </p:sp>
      <p:sp>
        <p:nvSpPr>
          <p:cNvPr id="13" name="Text 4">
            <a:extLst>
              <a:ext uri="{FF2B5EF4-FFF2-40B4-BE49-F238E27FC236}">
                <a16:creationId xmlns:a16="http://schemas.microsoft.com/office/drawing/2014/main" id="{198DA0E1-9DB3-9FAC-A0BF-198D6C85C46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7CCA5E8-5D93-9123-D6F9-EE43CEA265CA}"/>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11</a:t>
            </a:r>
            <a:endParaRPr lang="en-US" sz="1000" dirty="0"/>
          </a:p>
        </p:txBody>
      </p:sp>
    </p:spTree>
    <p:extLst>
      <p:ext uri="{BB962C8B-B14F-4D97-AF65-F5344CB8AC3E}">
        <p14:creationId xmlns:p14="http://schemas.microsoft.com/office/powerpoint/2010/main" val="14277444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What Changes at Bank </a:t>
            </a:r>
            <a:r>
              <a:rPr lang="en-US" sz="3000" b="1" dirty="0">
                <a:solidFill>
                  <a:srgbClr val="1F4E79"/>
                </a:solidFill>
                <a:latin typeface="Calibri" pitchFamily="34" charset="0"/>
                <a:ea typeface="Calibri" pitchFamily="34" charset="-122"/>
                <a:cs typeface="Calibri" pitchFamily="34" charset="-120"/>
              </a:rPr>
              <a:t>S</a:t>
            </a: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cale</a:t>
            </a:r>
            <a:endParaRPr kumimoji="0" lang="en-US" sz="3000" b="0" i="0" u="none" strike="noStrike" kern="1200" cap="none" spc="0" normalizeH="0" baseline="0" noProof="0" dirty="0">
              <a:ln>
                <a:noFill/>
              </a:ln>
              <a:solidFill>
                <a:prstClr val="black"/>
              </a:solidFill>
              <a:effectLst/>
              <a:uLnTx/>
              <a:uFillTx/>
              <a:latin typeface="Calibri"/>
              <a:ea typeface="+mn-ea"/>
              <a:cs typeface="+mn-cs"/>
            </a:endParaRPr>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Five things to watch when hundreds of bankers and 30+ agents use this pattern</a:t>
            </a:r>
            <a:endParaRPr kumimoji="0" lang="en-US" sz="1500" b="0"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5" name="Table 0"/>
          <p:cNvGraphicFramePr>
            <a:graphicFrameLocks noGrp="1"/>
          </p:cNvGraphicFramePr>
          <p:nvPr>
            <p:extLst>
              <p:ext uri="{D42A27DB-BD31-4B8C-83A1-F6EECF244321}">
                <p14:modId xmlns:p14="http://schemas.microsoft.com/office/powerpoint/2010/main" val="1689003164"/>
              </p:ext>
            </p:extLst>
          </p:nvPr>
        </p:nvGraphicFramePr>
        <p:xfrm>
          <a:off x="502920" y="1325880"/>
          <a:ext cx="11155680" cy="4800600"/>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Issue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do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Every click/request uses the banker’s own Salesforce limits, tokens, resources </a:t>
                      </a:r>
                      <a:r>
                        <a:rPr lang="en-US" sz="1300" b="1" dirty="0" err="1">
                          <a:solidFill>
                            <a:srgbClr val="262626"/>
                          </a:solidFill>
                          <a:latin typeface="Calibri" pitchFamily="34" charset="0"/>
                          <a:ea typeface="Calibri" pitchFamily="34" charset="-122"/>
                          <a:cs typeface="Calibri" pitchFamily="34" charset="-120"/>
                        </a:rPr>
                        <a:t>etc</a:t>
                      </a:r>
                      <a:r>
                        <a:rPr lang="en-US" sz="1300" b="1" dirty="0">
                          <a:solidFill>
                            <a:srgbClr val="262626"/>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Gathering the facts runs extra database queries inside the click. Too many and the request fails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Cap at 3 meetings per request, and call the AI before saving anything (MAX_PER_CALL = 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Going over fails the whole request, and saving before calling the AI isn’t allowed, so this order also avoids half-saved records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A summary takes about 7 seconds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Up to 15 seconds if the AI has to try again. Bankers notice waits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once, and watch the slowest requests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One retry fixes most one-off glitches. More would mean 20+ second waits for little gain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Every AI call costs money, and a retry costs double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Usage grows with every banker and every agent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 a failed check or a service glitch, never on a permission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glitch may come right on a second try. A permission error never will, so retrying it only doubles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log keeps client data indefinitely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Raw AI output holds client details, and bank policy limits how long they can be kept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Agree a retention period. A scheduled job clears old raw text but keeps the stats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stats hold no client data and still show the trends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The “wrong client” check stops at 2,000 names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large bank has more clients than that, so some names wouldn’t be checked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Log every time the cap is hit. Next: look up only the names in the question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check that silently stops is worse than none. Looking up only the names used is fast and complete at any size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Measured on this build, not load-tested. All 13 risks are in SCALABILITY_RISKS.md.</a:t>
            </a:r>
            <a:endParaRPr kumimoji="0" lang="en-US" sz="1100" b="0" i="0" u="none" strike="noStrike" kern="1200" cap="none" spc="0" normalizeH="0" baseline="0" noProof="0" dirty="0">
              <a:ln>
                <a:noFill/>
              </a:ln>
              <a:solidFill>
                <a:prstClr val="black"/>
              </a:solidFill>
              <a:effectLst/>
              <a:uLnTx/>
              <a:uFillTx/>
              <a:latin typeface="Calibri"/>
              <a:ea typeface="+mn-ea"/>
              <a:cs typeface="+mn-cs"/>
            </a:endParaRPr>
          </a:p>
        </p:txBody>
      </p:sp>
      <p:sp>
        <p:nvSpPr>
          <p:cNvPr id="7" name="Text 4"/>
          <p:cNvSpPr txBox="1"/>
          <p:nvPr/>
        </p:nvSpPr>
        <p:spPr>
          <a:xfrm>
            <a:off x="50292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Agentforce Banking Reference Implementation</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 5"/>
          <p:cNvSpPr txBox="1"/>
          <p:nvPr/>
        </p:nvSpPr>
        <p:spPr>
          <a:xfrm>
            <a:off x="10698480" y="6446520"/>
            <a:ext cx="96012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13</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Reusability Patterns for the SI</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The same five steps behind both capabilities, ready for the 30+ agent backlog</a:t>
            </a:r>
            <a:endParaRPr lang="en-US" sz="1500" dirty="0"/>
          </a:p>
        </p:txBody>
      </p:sp>
      <p:graphicFrame>
        <p:nvGraphicFramePr>
          <p:cNvPr id="5" name="Table 0"/>
          <p:cNvGraphicFramePr>
            <a:graphicFrameLocks noGrp="1"/>
          </p:cNvGraphicFramePr>
          <p:nvPr/>
        </p:nvGraphicFramePr>
        <p:xfrm>
          <a:off x="502920" y="1325880"/>
          <a:ext cx="11155680" cy="4617720"/>
        </p:xfrm>
        <a:graphic>
          <a:graphicData uri="http://schemas.openxmlformats.org/drawingml/2006/table">
            <a:tbl>
              <a:tblPr/>
              <a:tblGrid>
                <a:gridCol w="21031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Step</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built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Context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Gathers the client facts the AI is allowed to use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Apex queries run as the banker; every fact tagged with a source; notes marked untrusted; a size budget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AI only sees what this banker can see, and every claim can be traced to a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Asks the AI to write, in a fixed format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Prompt Builder template, strict JSON output, version frozen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fixed format can be checked by code, and a frozen version keeps results comparable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Validate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Checks the answer before anyone sees it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Code checks sources, amounts, names, next steps and injected text; fixes what is safe, blocks the rest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guarantee lives in code, not in the prompt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Fallback</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Decides what the banker gets if checks fail twice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Summary: CRM facts only, clearly labelled. Q&amp;A: an honest “couldn’t verify”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never sees unverified AI text, and never just an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Records every request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One row: status, attempts, repairs, timing, template version. Private, AI Ops only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Audit what the AI produced and spot problems 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Shared code and tests mean each new agent adds only its facts, its format, its checks and one guarded action.  Details: REUSABLE_PATTERN.md</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Known Limitations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810901180"/>
              </p:ext>
            </p:extLst>
          </p:nvPr>
        </p:nvGraphicFramePr>
        <p:xfrm>
          <a:off x="502920" y="1325880"/>
          <a:ext cx="8321040" cy="4517136"/>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Limitation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 for the banker</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handle it today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The chat can shorten or repeat AI output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 may see less than what was returned, or an old result shown as new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save time in the message shows a replay; the record, PDF and log are the source of truth</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Ambiguous initials (“RK” is two people)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may guess the wrong person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Measured in testing; the holdout found it (TC-15, TC-19)</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Abbreviated names (“P. Raman”)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correct answer can be blocked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Fails safe: the banker gets “couldn’t verify”, never wrong information (TC-21)</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“Ask before regenerating” is an instruction, not code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agent may regenerate without asking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Low harm: the new summary is still checked and logged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Closed deals and older meetings are not included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Questions about them get “can’t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agent says so honestly, with no invented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Private sharing not tested end to end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Record-level access is proven in code, not in this test org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checked in code and unit tests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Each next step is followed by re-running the test set on new unseen data.</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Potential Next Steps…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Headless 360 and AIforce let bankers reach the same agent from Slack, Claude or other AI tools</a:t>
            </a: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590472788"/>
              </p:ext>
            </p:extLst>
          </p:nvPr>
        </p:nvGraphicFramePr>
        <p:xfrm>
          <a:off x="502920" y="1325880"/>
          <a:ext cx="11155680" cy="4343400"/>
        </p:xfrm>
        <a:graphic>
          <a:graphicData uri="http://schemas.openxmlformats.org/drawingml/2006/table">
            <a:tbl>
              <a:tblPr/>
              <a:tblGrid>
                <a:gridCol w="2651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Enhancement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stays the same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First test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Reach bankers where they work</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agent is called from Slack (Slackforce), Claude (Salesforce in Claude) or Agentforce Coworker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Our Apex still gathers facts as the banker, checks the answer and writes the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Run the agent test set from each new interface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Call it headlessly</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Other apps start agent sessions through the Agent API or MCP tools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Find sets the guard; Generate validates, saves and logs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banker’s own identity carries through, not a shared integration user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Better display of results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Experience Layer shows structured summaries instead of plain chat text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Record, PDF and log stay the system of record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Does it fix trimmed or replayed output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Built-in monitoring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Add Observability, Session Tracing and Testing Center for the agent side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AI_Generation_Log__c still records every AI request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Add structured log fields, incl. interface used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Cost per channel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Every interface that calls the agent uses requests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One retry only; failures caught before the AI call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Track request use per interface against budget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Why the design is ready: every guarantee lives in Salesforce, not in the chat window. Announced 2026; not yet tested in this build.</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9E42475-CBD9-0022-D5C9-BA7E072EDA2E}"/>
              </a:ext>
            </a:extLst>
          </p:cNvPr>
          <p:cNvSpPr/>
          <p:nvPr/>
        </p:nvSpPr>
        <p:spPr>
          <a:xfrm>
            <a:off x="26670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a:extLst>
              <a:ext uri="{FF2B5EF4-FFF2-40B4-BE49-F238E27FC236}">
                <a16:creationId xmlns:a16="http://schemas.microsoft.com/office/drawing/2014/main" id="{485A3E16-E27B-51A3-DA8E-277974FCE053}"/>
              </a:ext>
            </a:extLst>
          </p:cNvPr>
          <p:cNvSpPr txBox="1"/>
          <p:nvPr/>
        </p:nvSpPr>
        <p:spPr>
          <a:xfrm>
            <a:off x="769620" y="320040"/>
            <a:ext cx="1115568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000" b="1" dirty="0">
                <a:solidFill>
                  <a:srgbClr val="1F4E79"/>
                </a:solidFill>
                <a:latin typeface="Calibri" pitchFamily="34" charset="0"/>
                <a:ea typeface="Calibri" pitchFamily="34" charset="-122"/>
                <a:cs typeface="Calibri" pitchFamily="34" charset="-120"/>
              </a:rPr>
              <a:t>How I used AI tools</a:t>
            </a:r>
            <a:endParaRPr lang="en-US" sz="3000" dirty="0"/>
          </a:p>
        </p:txBody>
      </p:sp>
      <p:sp>
        <p:nvSpPr>
          <p:cNvPr id="4" name="Text 2">
            <a:extLst>
              <a:ext uri="{FF2B5EF4-FFF2-40B4-BE49-F238E27FC236}">
                <a16:creationId xmlns:a16="http://schemas.microsoft.com/office/drawing/2014/main" id="{6556B3DD-7FA0-07E4-D0B4-275D5F1925D6}"/>
              </a:ext>
            </a:extLst>
          </p:cNvPr>
          <p:cNvSpPr txBox="1"/>
          <p:nvPr/>
        </p:nvSpPr>
        <p:spPr>
          <a:xfrm>
            <a:off x="769620" y="841248"/>
            <a:ext cx="1115568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dirty="0">
                <a:solidFill>
                  <a:srgbClr val="595959"/>
                </a:solidFill>
                <a:latin typeface="Calibri" pitchFamily="34" charset="0"/>
                <a:ea typeface="Calibri" pitchFamily="34" charset="-122"/>
                <a:cs typeface="Calibri" pitchFamily="34" charset="-120"/>
              </a:rPr>
              <a:t>AI did the building; I designed, reviewed and tested. Every mistake it made was caught and logged.</a:t>
            </a:r>
            <a:endParaRPr lang="en-US" sz="1500" dirty="0"/>
          </a:p>
        </p:txBody>
      </p:sp>
      <p:sp>
        <p:nvSpPr>
          <p:cNvPr id="5" name="Shape 3">
            <a:extLst>
              <a:ext uri="{FF2B5EF4-FFF2-40B4-BE49-F238E27FC236}">
                <a16:creationId xmlns:a16="http://schemas.microsoft.com/office/drawing/2014/main" id="{F683B8F4-E25C-AB1F-094D-88BA3E7428A7}"/>
              </a:ext>
            </a:extLst>
          </p:cNvPr>
          <p:cNvSpPr/>
          <p:nvPr/>
        </p:nvSpPr>
        <p:spPr>
          <a:xfrm>
            <a:off x="769620" y="1371600"/>
            <a:ext cx="51206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6" name="Text 4">
            <a:extLst>
              <a:ext uri="{FF2B5EF4-FFF2-40B4-BE49-F238E27FC236}">
                <a16:creationId xmlns:a16="http://schemas.microsoft.com/office/drawing/2014/main" id="{3CD50886-1090-56DF-9CC8-F611D1DFBFE5}"/>
              </a:ext>
            </a:extLst>
          </p:cNvPr>
          <p:cNvSpPr txBox="1"/>
          <p:nvPr/>
        </p:nvSpPr>
        <p:spPr>
          <a:xfrm>
            <a:off x="998220" y="1536192"/>
            <a:ext cx="46634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How I used AI</a:t>
            </a:r>
            <a:endParaRPr lang="en-US" sz="1900" dirty="0"/>
          </a:p>
        </p:txBody>
      </p:sp>
      <p:sp>
        <p:nvSpPr>
          <p:cNvPr id="7" name="Text 5">
            <a:extLst>
              <a:ext uri="{FF2B5EF4-FFF2-40B4-BE49-F238E27FC236}">
                <a16:creationId xmlns:a16="http://schemas.microsoft.com/office/drawing/2014/main" id="{0D85BD00-CED2-00B2-9BBB-7AC3EE147E16}"/>
              </a:ext>
            </a:extLst>
          </p:cNvPr>
          <p:cNvSpPr txBox="1"/>
          <p:nvPr/>
        </p:nvSpPr>
        <p:spPr>
          <a:xfrm>
            <a:off x="998220" y="229217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built it: </a:t>
            </a:r>
            <a:r>
              <a:rPr lang="en-US" sz="1500" dirty="0">
                <a:solidFill>
                  <a:srgbClr val="262626"/>
                </a:solidFill>
                <a:latin typeface="Calibri" pitchFamily="34" charset="0"/>
                <a:ea typeface="Calibri" pitchFamily="34" charset="-122"/>
                <a:cs typeface="Calibri" pitchFamily="34" charset="-120"/>
              </a:rPr>
              <a:t>the Apex, tests and scripts, from my design and step-by-step instructions</a:t>
            </a:r>
          </a:p>
          <a:p>
            <a:pPr marL="203200" indent="-203200">
              <a:buSzPct val="100000"/>
              <a:buFontTx/>
              <a:buChar char="•"/>
            </a:pPr>
            <a:r>
              <a:rPr lang="en-US" sz="1500" b="1" dirty="0">
                <a:solidFill>
                  <a:srgbClr val="1F4E79"/>
                </a:solidFill>
                <a:latin typeface="Calibri" pitchFamily="34" charset="0"/>
                <a:ea typeface="Calibri" pitchFamily="34" charset="-122"/>
                <a:cs typeface="Calibri" pitchFamily="34" charset="-120"/>
              </a:rPr>
              <a:t>I did every Salesforce step myself: </a:t>
            </a:r>
            <a:r>
              <a:rPr lang="en-US" sz="1500" dirty="0">
                <a:solidFill>
                  <a:srgbClr val="262626"/>
                </a:solidFill>
                <a:latin typeface="Calibri" pitchFamily="34" charset="0"/>
                <a:ea typeface="Calibri" pitchFamily="34" charset="-122"/>
                <a:cs typeface="Calibri" pitchFamily="34" charset="-120"/>
              </a:rPr>
              <a:t>objects, both prompt templates, the agent, and every agent test</a:t>
            </a:r>
            <a:endParaRPr lang="en-US" sz="1500" dirty="0"/>
          </a:p>
          <a:p>
            <a:pPr marL="203200" indent="-203200">
              <a:buSzPct val="100000"/>
              <a:buChar char="•"/>
            </a:pPr>
            <a:endParaRPr lang="en-US" sz="1500" dirty="0"/>
          </a:p>
        </p:txBody>
      </p:sp>
      <p:sp>
        <p:nvSpPr>
          <p:cNvPr id="8" name="Text 6">
            <a:extLst>
              <a:ext uri="{FF2B5EF4-FFF2-40B4-BE49-F238E27FC236}">
                <a16:creationId xmlns:a16="http://schemas.microsoft.com/office/drawing/2014/main" id="{EAC32410-AFB1-A4DB-6F70-2F24F4739AAE}"/>
              </a:ext>
            </a:extLst>
          </p:cNvPr>
          <p:cNvSpPr txBox="1"/>
          <p:nvPr/>
        </p:nvSpPr>
        <p:spPr>
          <a:xfrm>
            <a:off x="998220" y="3319272"/>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drafted the paperwork: </a:t>
            </a:r>
            <a:r>
              <a:rPr lang="en-US" sz="1500" dirty="0">
                <a:solidFill>
                  <a:srgbClr val="262626"/>
                </a:solidFill>
                <a:latin typeface="Calibri" pitchFamily="34" charset="0"/>
                <a:ea typeface="Calibri" pitchFamily="34" charset="-122"/>
                <a:cs typeface="Calibri" pitchFamily="34" charset="-120"/>
              </a:rPr>
              <a:t>logs, test protocol, I reviewed and corrected each</a:t>
            </a:r>
            <a:endParaRPr lang="en-US" sz="1500" dirty="0"/>
          </a:p>
        </p:txBody>
      </p:sp>
      <p:sp>
        <p:nvSpPr>
          <p:cNvPr id="9" name="Text 7">
            <a:extLst>
              <a:ext uri="{FF2B5EF4-FFF2-40B4-BE49-F238E27FC236}">
                <a16:creationId xmlns:a16="http://schemas.microsoft.com/office/drawing/2014/main" id="{984F6DB1-A1DB-215F-779E-826FA9D4A7BB}"/>
              </a:ext>
            </a:extLst>
          </p:cNvPr>
          <p:cNvSpPr txBox="1"/>
          <p:nvPr/>
        </p:nvSpPr>
        <p:spPr>
          <a:xfrm>
            <a:off x="998220" y="353872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endParaRPr lang="en-US" sz="1500" dirty="0"/>
          </a:p>
        </p:txBody>
      </p:sp>
      <p:sp>
        <p:nvSpPr>
          <p:cNvPr id="10" name="Text 8">
            <a:extLst>
              <a:ext uri="{FF2B5EF4-FFF2-40B4-BE49-F238E27FC236}">
                <a16:creationId xmlns:a16="http://schemas.microsoft.com/office/drawing/2014/main" id="{57FE00DD-D66F-855A-FE9F-BA411FB19151}"/>
              </a:ext>
            </a:extLst>
          </p:cNvPr>
          <p:cNvSpPr txBox="1"/>
          <p:nvPr/>
        </p:nvSpPr>
        <p:spPr>
          <a:xfrm>
            <a:off x="998220" y="4055240"/>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Fact Checking: </a:t>
            </a:r>
            <a:r>
              <a:rPr lang="en-US" sz="1500" dirty="0">
                <a:solidFill>
                  <a:srgbClr val="262626"/>
                </a:solidFill>
                <a:latin typeface="Calibri" pitchFamily="34" charset="0"/>
                <a:ea typeface="Calibri" pitchFamily="34" charset="-122"/>
                <a:cs typeface="Calibri" pitchFamily="34" charset="-120"/>
              </a:rPr>
              <a:t>Certain plans, assumptions, and routes Claude took that I was unsure of I validated against SF documentation as well as a 2</a:t>
            </a:r>
            <a:r>
              <a:rPr lang="en-US" sz="1500" baseline="30000" dirty="0">
                <a:solidFill>
                  <a:srgbClr val="262626"/>
                </a:solidFill>
                <a:latin typeface="Calibri" pitchFamily="34" charset="0"/>
                <a:ea typeface="Calibri" pitchFamily="34" charset="-122"/>
                <a:cs typeface="Calibri" pitchFamily="34" charset="-120"/>
              </a:rPr>
              <a:t>nd</a:t>
            </a:r>
            <a:r>
              <a:rPr lang="en-US" sz="1500" dirty="0">
                <a:solidFill>
                  <a:srgbClr val="262626"/>
                </a:solidFill>
                <a:latin typeface="Calibri" pitchFamily="34" charset="0"/>
                <a:ea typeface="Calibri" pitchFamily="34" charset="-122"/>
                <a:cs typeface="Calibri" pitchFamily="34" charset="-120"/>
              </a:rPr>
              <a:t> AI reviewer.</a:t>
            </a:r>
            <a:endParaRPr lang="en-US" sz="1500" dirty="0"/>
          </a:p>
        </p:txBody>
      </p:sp>
      <p:sp>
        <p:nvSpPr>
          <p:cNvPr id="11" name="Text 9">
            <a:extLst>
              <a:ext uri="{FF2B5EF4-FFF2-40B4-BE49-F238E27FC236}">
                <a16:creationId xmlns:a16="http://schemas.microsoft.com/office/drawing/2014/main" id="{F0B5AB27-2D28-173B-1CF9-766F9228378A}"/>
              </a:ext>
            </a:extLst>
          </p:cNvPr>
          <p:cNvSpPr txBox="1"/>
          <p:nvPr/>
        </p:nvSpPr>
        <p:spPr>
          <a:xfrm>
            <a:off x="998220" y="5020056"/>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Everything is logged: </a:t>
            </a:r>
            <a:r>
              <a:rPr lang="en-US" sz="1500" dirty="0">
                <a:solidFill>
                  <a:srgbClr val="262626"/>
                </a:solidFill>
                <a:latin typeface="Calibri" pitchFamily="34" charset="0"/>
                <a:ea typeface="Calibri" pitchFamily="34" charset="-122"/>
                <a:cs typeface="Calibri" pitchFamily="34" charset="-120"/>
              </a:rPr>
              <a:t>each mistake and how it was caught is in AI_TOOLING_LOG.md</a:t>
            </a:r>
            <a:endParaRPr lang="en-US" sz="1500" dirty="0"/>
          </a:p>
        </p:txBody>
      </p:sp>
      <p:sp>
        <p:nvSpPr>
          <p:cNvPr id="12" name="Shape 10">
            <a:extLst>
              <a:ext uri="{FF2B5EF4-FFF2-40B4-BE49-F238E27FC236}">
                <a16:creationId xmlns:a16="http://schemas.microsoft.com/office/drawing/2014/main" id="{C05D5087-985A-738F-F817-F6D1B5D3CBF6}"/>
              </a:ext>
            </a:extLst>
          </p:cNvPr>
          <p:cNvSpPr/>
          <p:nvPr/>
        </p:nvSpPr>
        <p:spPr>
          <a:xfrm>
            <a:off x="6118860" y="1371600"/>
            <a:ext cx="58064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13" name="Text 11">
            <a:extLst>
              <a:ext uri="{FF2B5EF4-FFF2-40B4-BE49-F238E27FC236}">
                <a16:creationId xmlns:a16="http://schemas.microsoft.com/office/drawing/2014/main" id="{AE08127F-2584-2694-9141-771A0353611F}"/>
              </a:ext>
            </a:extLst>
          </p:cNvPr>
          <p:cNvSpPr txBox="1"/>
          <p:nvPr/>
        </p:nvSpPr>
        <p:spPr>
          <a:xfrm>
            <a:off x="6347460" y="1536192"/>
            <a:ext cx="53492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What it got wrong, and how it was caught</a:t>
            </a:r>
            <a:endParaRPr lang="en-US" sz="1900" dirty="0"/>
          </a:p>
        </p:txBody>
      </p:sp>
      <p:sp>
        <p:nvSpPr>
          <p:cNvPr id="14" name="Text 12">
            <a:extLst>
              <a:ext uri="{FF2B5EF4-FFF2-40B4-BE49-F238E27FC236}">
                <a16:creationId xmlns:a16="http://schemas.microsoft.com/office/drawing/2014/main" id="{C32254A7-4217-1313-1C2D-2FF036DDE5BF}"/>
              </a:ext>
            </a:extLst>
          </p:cNvPr>
          <p:cNvSpPr txBox="1"/>
          <p:nvPr/>
        </p:nvSpPr>
        <p:spPr>
          <a:xfrm>
            <a:off x="6347460" y="205740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Wrong-meeting link: </a:t>
            </a:r>
            <a:r>
              <a:rPr lang="en-US" sz="1500" dirty="0">
                <a:solidFill>
                  <a:srgbClr val="262626"/>
                </a:solidFill>
                <a:latin typeface="Calibri" pitchFamily="34" charset="0"/>
                <a:ea typeface="Calibri" pitchFamily="34" charset="-122"/>
                <a:cs typeface="Calibri" pitchFamily="34" charset="-120"/>
              </a:rPr>
              <a:t>it had the agent build links itself, and my test opened the wrong meeting (BA-13). Links are now built only in code</a:t>
            </a:r>
            <a:endParaRPr lang="en-US" sz="1500" dirty="0"/>
          </a:p>
        </p:txBody>
      </p:sp>
      <p:sp>
        <p:nvSpPr>
          <p:cNvPr id="15" name="Text 13">
            <a:extLst>
              <a:ext uri="{FF2B5EF4-FFF2-40B4-BE49-F238E27FC236}">
                <a16:creationId xmlns:a16="http://schemas.microsoft.com/office/drawing/2014/main" id="{FFDCDBB5-20DD-2ACC-6F53-2E36EF2072FC}"/>
              </a:ext>
            </a:extLst>
          </p:cNvPr>
          <p:cNvSpPr txBox="1"/>
          <p:nvPr/>
        </p:nvSpPr>
        <p:spPr>
          <a:xfrm>
            <a:off x="6347460" y="298323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Clashing names: </a:t>
            </a:r>
            <a:r>
              <a:rPr lang="en-US" sz="1500" dirty="0">
                <a:solidFill>
                  <a:srgbClr val="262626"/>
                </a:solidFill>
                <a:latin typeface="Calibri" pitchFamily="34" charset="0"/>
                <a:ea typeface="Calibri" pitchFamily="34" charset="-122"/>
                <a:cs typeface="Calibri" pitchFamily="34" charset="-120"/>
              </a:rPr>
              <a:t>it used “url” and “id” as variable names, which Apex already uses. The deploy failed before anything shipped</a:t>
            </a:r>
            <a:endParaRPr lang="en-US" sz="1500" dirty="0"/>
          </a:p>
        </p:txBody>
      </p:sp>
      <p:sp>
        <p:nvSpPr>
          <p:cNvPr id="16" name="Text 14">
            <a:extLst>
              <a:ext uri="{FF2B5EF4-FFF2-40B4-BE49-F238E27FC236}">
                <a16:creationId xmlns:a16="http://schemas.microsoft.com/office/drawing/2014/main" id="{BE6EC309-5CE0-A53B-310A-E0A4BFAEA4E3}"/>
              </a:ext>
            </a:extLst>
          </p:cNvPr>
          <p:cNvSpPr txBox="1"/>
          <p:nvPr/>
        </p:nvSpPr>
        <p:spPr>
          <a:xfrm>
            <a:off x="6347460" y="390906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Saved before checking: </a:t>
            </a:r>
            <a:r>
              <a:rPr lang="en-US" sz="1500" dirty="0">
                <a:solidFill>
                  <a:srgbClr val="262626"/>
                </a:solidFill>
                <a:latin typeface="Calibri" pitchFamily="34" charset="0"/>
                <a:ea typeface="Calibri" pitchFamily="34" charset="-122"/>
                <a:cs typeface="Calibri" pitchFamily="34" charset="-120"/>
              </a:rPr>
              <a:t>a broken test file reached GitHub. Fixed in the next commit; check run now need to pass before saving</a:t>
            </a:r>
            <a:endParaRPr lang="en-US" sz="1500" dirty="0"/>
          </a:p>
        </p:txBody>
      </p:sp>
      <p:sp>
        <p:nvSpPr>
          <p:cNvPr id="17" name="Text 15">
            <a:extLst>
              <a:ext uri="{FF2B5EF4-FFF2-40B4-BE49-F238E27FC236}">
                <a16:creationId xmlns:a16="http://schemas.microsoft.com/office/drawing/2014/main" id="{0F6FBC5A-0852-9727-7F6E-3956D1763DBF}"/>
              </a:ext>
            </a:extLst>
          </p:cNvPr>
          <p:cNvSpPr txBox="1"/>
          <p:nvPr/>
        </p:nvSpPr>
        <p:spPr>
          <a:xfrm>
            <a:off x="6347460" y="483489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Overstated claim:</a:t>
            </a:r>
            <a:r>
              <a:rPr lang="en-US" sz="1600" dirty="0"/>
              <a:t> it said other clients’ names were being checked. When I asked it to prove it, they weren’t. The check was then built and tested.</a:t>
            </a:r>
            <a:endParaRPr lang="en-US" sz="1500" dirty="0"/>
          </a:p>
        </p:txBody>
      </p:sp>
      <p:sp>
        <p:nvSpPr>
          <p:cNvPr id="18" name="Text 16">
            <a:extLst>
              <a:ext uri="{FF2B5EF4-FFF2-40B4-BE49-F238E27FC236}">
                <a16:creationId xmlns:a16="http://schemas.microsoft.com/office/drawing/2014/main" id="{F453D998-9661-DA01-445E-034BF1E51700}"/>
              </a:ext>
            </a:extLst>
          </p:cNvPr>
          <p:cNvSpPr txBox="1"/>
          <p:nvPr/>
        </p:nvSpPr>
        <p:spPr>
          <a:xfrm>
            <a:off x="769620" y="6144768"/>
            <a:ext cx="1115568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dirty="0">
                <a:solidFill>
                  <a:srgbClr val="595959"/>
                </a:solidFill>
                <a:latin typeface="Calibri" pitchFamily="34" charset="0"/>
                <a:ea typeface="Calibri" pitchFamily="34" charset="-122"/>
                <a:cs typeface="Calibri" pitchFamily="34" charset="-120"/>
              </a:rPr>
              <a:t>Safeguards: compare what is deployed with what was intended, evidence after every change, test rules written first, planted errors.</a:t>
            </a:r>
            <a:endParaRPr lang="en-US" sz="1100" dirty="0"/>
          </a:p>
        </p:txBody>
      </p:sp>
      <p:sp>
        <p:nvSpPr>
          <p:cNvPr id="19" name="Text 17">
            <a:extLst>
              <a:ext uri="{FF2B5EF4-FFF2-40B4-BE49-F238E27FC236}">
                <a16:creationId xmlns:a16="http://schemas.microsoft.com/office/drawing/2014/main" id="{3A3DFAFB-6B31-7749-605E-5119CEEA9FEF}"/>
              </a:ext>
            </a:extLst>
          </p:cNvPr>
          <p:cNvSpPr txBox="1"/>
          <p:nvPr/>
        </p:nvSpPr>
        <p:spPr>
          <a:xfrm>
            <a:off x="769620" y="6473952"/>
            <a:ext cx="731520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20" name="Text 18">
            <a:extLst>
              <a:ext uri="{FF2B5EF4-FFF2-40B4-BE49-F238E27FC236}">
                <a16:creationId xmlns:a16="http://schemas.microsoft.com/office/drawing/2014/main" id="{7792E0A4-7C3E-FF48-59C6-2C4FBA516427}"/>
              </a:ext>
            </a:extLst>
          </p:cNvPr>
          <p:cNvSpPr txBox="1"/>
          <p:nvPr/>
        </p:nvSpPr>
        <p:spPr>
          <a:xfrm>
            <a:off x="10965180" y="6473952"/>
            <a:ext cx="9601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r">
              <a:buNone/>
            </a:pPr>
            <a:r>
              <a:rPr lang="en-US" sz="1000" dirty="0">
                <a:solidFill>
                  <a:srgbClr val="595959"/>
                </a:solidFill>
                <a:latin typeface="Calibri" pitchFamily="34" charset="0"/>
                <a:ea typeface="Calibri" pitchFamily="34" charset="-122"/>
                <a:cs typeface="Calibri" pitchFamily="34" charset="-120"/>
              </a:rPr>
              <a:t>12</a:t>
            </a:r>
            <a:endParaRPr lang="en-US" sz="1000" dirty="0"/>
          </a:p>
        </p:txBody>
      </p:sp>
    </p:spTree>
    <p:extLst>
      <p:ext uri="{BB962C8B-B14F-4D97-AF65-F5344CB8AC3E}">
        <p14:creationId xmlns:p14="http://schemas.microsoft.com/office/powerpoint/2010/main" val="647711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TotalTime>
  <Words>5551</Words>
  <Application>Microsoft Office PowerPoint</Application>
  <PresentationFormat>Widescreen</PresentationFormat>
  <Paragraphs>446</Paragraphs>
  <Slides>18</Slides>
  <Notes>14</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18</vt:i4>
      </vt:variant>
    </vt:vector>
  </HeadingPairs>
  <TitlesOfParts>
    <vt:vector size="23" baseType="lpstr">
      <vt:lpstr>Aptos</vt:lpstr>
      <vt:lpstr>Arial</vt:lpstr>
      <vt:lpstr>Calibri</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Rahman, Monib</cp:lastModifiedBy>
  <cp:revision>7</cp:revision>
  <dcterms:created xsi:type="dcterms:W3CDTF">2013-01-27T09:14:16Z</dcterms:created>
  <dcterms:modified xsi:type="dcterms:W3CDTF">2026-10-15T17:29:07Z</dcterms:modified>
  <cp:category/>
</cp:coreProperties>
</file>