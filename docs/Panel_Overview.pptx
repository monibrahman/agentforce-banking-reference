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45 minutes: about 30 of walkthrough and demo, 15 for questions. Everything in this deck comes from the repository: the code, the logs (BUILD_LOG, AI_TOOLING_LOG, PROMPT_ITERATIONS) and the test protocol. Where a test has not been executed yet, the slide says [after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rule the whole build follows. The model is good at writing; it is not a database. So deterministic Apex gathers every fact, tags it with a source id, and the model may only use those. The model returns JSON, and code checks it before anything reaches a banker. If the output fails the checks, one plain retry of the same frozen template, then a data-only fallback clearly labelled "AI summary unavailable; data-only summary". A banker never sees invented or broken content. And every generation writes one row to AI_Generation_Log__c, so we can audit and monitor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validator rule is assigned a tier up front. Block: the output is invalid, so one plain retry of the same template, then the fallback; examples are a source id that isn't in the context, or an amount that isn't. Repair: code fixes it and the status says Repaired. Offline only: wording and attribution, which can't be checked at runtime and are measured on the test set. Two real examples from the GPT 5.4 runs. The repair: the model truncated "send buyer list (TB)" to "send buyer list" and named Tom Brennan as owner. Code finds the full clause in the notes and applies the owner rule: a trailing bracket like (TB) could be the requester or the recipient, so the owner is Unassigned. The block: one run returned invalid JSON; the service retries once. Code also adds what the prompt misses: the v4 prompt was tuned for precision and missed the Keel conflict in MTG-0019, so a deterministic amount-conflict check now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 of the record being summarised must never come from the model. Agent Script lets us enforce that: Find sets selected_meeting_id only on a unique match, Generate is available only when it is set, its input is bound to the variable, and the variable is cleared after use. Why it matters: in BA-13 the agent's own reply invented a link with MTG-0014's Id under MTG-0019's name, mixing records from earlier in the chat; links now come only from Apex. BA-12 checks that switching meetings uses the right Id each time. BA-24 is the honest one: on agent v5 the agent regenerated without asking, then on "Yes" it re-sent the earlier result as new. The guard worked, Generate was unavailable, but the display layer replayed text. The fix in Apex: the Message carries the save time, so a replay shows an old time; the rerun passed. Also caught by diffing: the available-when line was removed in v2 while I isolated a Preview hang, and the bundle diff found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 inline queries and every record DML in the services run in user mode; TC-02 scanned the code. The template's grounding Apex runs inside our transaction as the banker, so the model only sees what the banker can see. Minimum banker access was found by testing: Banker_Summary plus the standard Prompt Template User permission set. Without Prompt Template User the banker gets a data-only summary and a message saying exactly that. The log holds raw client data: OWD Private, readable through AI_Ops and by admins; TC-02 also found the Analytics Cloud Integration User profile has read, which production should review. Trusted URLs stop links to outside domains but not to a wrong record in this org, which is why links are built in code. Notes are data: delimited, labelled, and code blocks anything built from an injected sentence. For Q&amp;A, a question naming another visible client gets "which client do you mean?" before any LLM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protocol was committed before any test ran, including every pass criterion and the expected outputs for the replay, so the commit time proves the criteria weren't fitted to results. The holdout client, Meridian Health Partners, has three meetings designed to probe owners, an ambiguous set of initials (RK), an amount conflict and a cross-client mention; none were used to write prompts or rules. Replay: saved model outputs go through the deployed validators with no LLM, after proving the live context is byte-identical to what the model saw; then deliberate mutations must fail. Evidence rule: every result cites a log row created after the deploy it verifies. So far TC-00 to TC-03 pass: baseline, 173 of 173 Apex tests, security configuration, and replay plus mutation. The UI and holdout results are [after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from BUILD_LOG, each with what it changed. One: banker test A, a user without Prompt Template User, was told the AI output "did not pass the checks" after two identical retries; now errors are classified and permission errors are not retried. Two: BA-13, an LLM-written link pointing at the wrong record; links now come only from Apex. Three: on holdout MTG-0014, my clause rule turned a next step into "refi becomes urgent. no decision today. follow up next wk w/ term sheet" and still said Repaired; code that rewrites model output needs holdouts too. Four: adding Q&amp;A to the subagent, an old "always run Find Client Meetings first" instruction overrode the new ones and BA-17, 20 and 21 failed on routing; v5 scoped the instructions. Five: BA-24, the display replay; the save time in the Message makes it visible. AI_TOOLING_LOG records where the coding assistant misled me and how it was caught.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from 39 log rows; nothing was load-tested, and the full register in SCALABILITY_RISKS.md has 13 risks. The binding limits are inside the banker's own transaction: the template's grounding Apex adds about 5 SOQL and half a second of CPU per call, so the service processes at most 3 records per call and makes every LLM call before any DML. Latency: 3.1 to 9.9 seconds for a summary, median 7.2, 14.6 with a retry. Consumption doubles on a retry, so only invalid output and transient errors are retried. The log needs a retention policy because it holds raw client data. And the cross-client check loads at most 2,000 other names, so in a large book it is incomplete: that is now logged, and the proposed fix is to look up only the names in the question and answer. Two more to mention: concurrent long-running requests need a load test, and model lifecycle means a model change forces a full re-test.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SI copies. Five stages, each with a contract: the context builder returns source-tagged text in user mode with a budget; the template returns strict JSON from a frozen version; the validator assigns every rule to block, repair or offline; the fallback is deterministic and labelled; and every request logs one row. The shared kit is real code: AiActionSupport was extracted when Option B was built, so the second capability reused error classification, link building and logging instead of copying them. MockLlmGateway means tests never call the model. assertBankerFacing checks that every message is written to the banker, not to the agent. Per agent: add the action to the domain's existing subagent, apply the guard, generate the whole script and diff the deployed bundle, and keep holdouts unseen until the end. REUSABLE_PATTERN.md has the checklist and the anti-patterns with BUILD_LOG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limits. The agent's LLM is the display layer: it can shorten validated text or replay an earlier result; the system of record is the meeting record, the PDF and the log, and the production fix is a custom Lightning Type renderer so the text shown is the text returned. Confirmation before regenerating is an instruction, not code. Wording and attribution are measured offline, not guaranteed at runtime. Closed deals and older meetings are not in the context. User mode is unit-tested but not shown end to end, because the Developer Edition org has public sharing on these objects. Next: execute the remaining test cases, including the first holdout runs; then the renderer, structured log fields, the name lookup, a load test with an async path, and closed deals in the context, each followed by a re-run of the test set.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03120"/>
            <a:ext cx="3931920" cy="1828800"/>
          </a:xfrm>
          <a:prstGeom prst="rect">
            <a:avLst/>
          </a:prstGeom>
          <a:noFill/>
        </p:spPr>
        <p:txBody>
          <a:bodyPr wrap="square" anchor="t" lIns="45720" rIns="45720">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914400"/>
          </a:xfrm>
          <a:prstGeom prst="rect">
            <a:avLst/>
          </a:prstGeom>
          <a:noFill/>
        </p:spPr>
        <p:txBody>
          <a:bodyPr wrap="square" anchor="t" lIns="45720" rIns="45720">
            <a:spAutoFit/>
          </a:bodyPr>
          <a:lstStyle/>
          <a:p>
            <a:pPr algn="l"/>
            <a:r>
              <a:rPr sz="2800" b="1" i="0">
                <a:solidFill>
                  <a:srgbClr val="1F4E79"/>
                </a:solidFill>
                <a:latin typeface="Calibri"/>
              </a:rPr>
              <a:t>Client Meeting Summary and Meeting Prep Q&amp;A</a:t>
            </a:r>
          </a:p>
        </p:txBody>
      </p:sp>
      <p:sp>
        <p:nvSpPr>
          <p:cNvPr id="5" name="TextBox 4"/>
          <p:cNvSpPr txBox="1"/>
          <p:nvPr/>
        </p:nvSpPr>
        <p:spPr>
          <a:xfrm>
            <a:off x="5303520" y="3200400"/>
            <a:ext cx="6400800" cy="1280160"/>
          </a:xfrm>
          <a:prstGeom prst="rect">
            <a:avLst/>
          </a:prstGeom>
          <a:noFill/>
        </p:spPr>
        <p:txBody>
          <a:bodyPr wrap="square" anchor="t" lIns="45720" rIns="45720">
            <a:spAutoFit/>
          </a:bodyPr>
          <a:lstStyle/>
          <a:p>
            <a:pPr algn="l"/>
            <a:r>
              <a:rPr sz="2000" b="0" i="0">
                <a:solidFill>
                  <a:srgbClr val="595959"/>
                </a:solidFill>
                <a:latin typeface="Calibri"/>
              </a:rPr>
              <a:t>A pattern the SI can copy for the 30+ agent backlog</a:t>
            </a:r>
          </a:p>
          <a:p>
            <a:pPr algn="l"/>
            <a:r>
              <a:rPr sz="2000" b="0" i="0">
                <a:solidFill>
                  <a:srgbClr val="595959"/>
                </a:solidFill>
                <a:latin typeface="Calibri"/>
              </a:rPr>
              <a:t>Partner Technical Architect (Agentforce) panel</a:t>
            </a:r>
          </a:p>
        </p:txBody>
      </p:sp>
      <p:sp>
        <p:nvSpPr>
          <p:cNvPr id="6" name="TextBox 5"/>
          <p:cNvSpPr txBox="1"/>
          <p:nvPr/>
        </p:nvSpPr>
        <p:spPr>
          <a:xfrm>
            <a:off x="5303520" y="4937760"/>
            <a:ext cx="6400800" cy="457200"/>
          </a:xfrm>
          <a:prstGeom prst="rect">
            <a:avLst/>
          </a:prstGeom>
          <a:noFill/>
        </p:spPr>
        <p:txBody>
          <a:bodyPr wrap="square" anchor="t" lIns="45720" rIns="45720">
            <a:spAutoFit/>
          </a:bodyPr>
          <a:lstStyle/>
          <a:p>
            <a:pPr algn="l"/>
            <a:r>
              <a:rPr sz="1600" b="0" i="0">
                <a:solidFill>
                  <a:srgbClr val="595959"/>
                </a:solidFill>
                <a:latin typeface="Calibri"/>
              </a:rPr>
              <a:t>Monib Rahman  ·  October 2026</a:t>
            </a:r>
          </a:p>
        </p:txBody>
      </p:sp>
      <p:sp>
        <p:nvSpPr>
          <p:cNvPr id="7" name="TextBox 6"/>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20640" cy="457200"/>
          </a:xfrm>
          <a:prstGeom prst="rect">
            <a:avLst/>
          </a:prstGeom>
          <a:noFill/>
        </p:spPr>
        <p:txBody>
          <a:bodyPr wrap="square" anchor="t" lIns="45720" rIns="45720">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Investment bank live on Agentforce</a:t>
            </a:r>
          </a:p>
          <a:p>
            <a:pPr marL="274320" indent="-228600">
              <a:spcAft>
                <a:spcPts val="600"/>
              </a:spcAft>
              <a:buChar char="•"/>
            </a:pPr>
            <a:r>
              <a:rPr sz="2100" b="0" i="0">
                <a:solidFill>
                  <a:srgbClr val="1A1A1A"/>
                </a:solidFill>
                <a:latin typeface="Calibri"/>
              </a:rPr>
              <a:t>SI partner building 30+ agents for bankers</a:t>
            </a:r>
          </a:p>
          <a:p>
            <a:pPr marL="274320" indent="-228600">
              <a:spcAft>
                <a:spcPts val="600"/>
              </a:spcAft>
              <a:buChar char="•"/>
            </a:pPr>
            <a:r>
              <a:rPr sz="2100" b="0" i="0">
                <a:solidFill>
                  <a:srgbClr val="1A1A1A"/>
                </a:solidFill>
                <a:latin typeface="Calibri"/>
              </a:rPr>
              <a:t>Needs a reference implementation it can copy</a:t>
            </a:r>
          </a:p>
          <a:p>
            <a:pPr marL="274320" indent="-228600">
              <a:spcAft>
                <a:spcPts val="600"/>
              </a:spcAft>
              <a:buChar char="•"/>
            </a:pPr>
            <a:r>
              <a:rPr sz="2100" b="0" i="0">
                <a:solidFill>
                  <a:srgbClr val="1A1A1A"/>
                </a:solidFill>
                <a:latin typeface="Calibri"/>
              </a:rPr>
              <a:t>Bankers need facts they can trust, not fluent guesses</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1" i="0">
                <a:solidFill>
                  <a:srgbClr val="1A1A1A"/>
                </a:solidFill>
                <a:latin typeface="Calibri"/>
              </a:rPr>
              <a:t>A: Client Meeting Summary</a:t>
            </a:r>
            <a:r>
              <a:rPr sz="2100" b="0" i="0">
                <a:solidFill>
                  <a:srgbClr val="1A1A1A"/>
                </a:solidFill>
                <a:latin typeface="Calibri"/>
              </a:rPr>
              <a:t>, button or agent; saved on the record and as a PDF</a:t>
            </a:r>
          </a:p>
          <a:p>
            <a:pPr marL="274320" indent="-228600">
              <a:spcAft>
                <a:spcPts val="600"/>
              </a:spcAft>
              <a:buChar char="•"/>
            </a:pPr>
            <a:r>
              <a:rPr sz="2100" b="1" i="0">
                <a:solidFill>
                  <a:srgbClr val="1A1A1A"/>
                </a:solidFill>
                <a:latin typeface="Calibri"/>
              </a:rPr>
              <a:t>B: Meeting Prep Q&amp;A</a:t>
            </a:r>
            <a:r>
              <a:rPr sz="2100" b="0" i="0">
                <a:solidFill>
                  <a:srgbClr val="1A1A1A"/>
                </a:solidFill>
                <a:latin typeface="Calibri"/>
              </a:rPr>
              <a:t>, 1 to 5 sentences, every one cited</a:t>
            </a:r>
          </a:p>
          <a:p>
            <a:pPr marL="274320" indent="-228600">
              <a:spcAft>
                <a:spcPts val="600"/>
              </a:spcAft>
              <a:buChar char="•"/>
            </a:pPr>
            <a:r>
              <a:rPr sz="2100" b="0" i="0">
                <a:solidFill>
                  <a:srgbClr val="1A1A1A"/>
                </a:solidFill>
                <a:latin typeface="Calibri"/>
              </a:rPr>
              <a:t>One shared pattern, written up for the backlog</a:t>
            </a:r>
          </a:p>
          <a:p>
            <a:pPr marL="274320" indent="-228600">
              <a:spcAft>
                <a:spcPts val="600"/>
              </a:spcAft>
              <a:buChar char="•"/>
            </a:pPr>
            <a:r>
              <a:rPr sz="2100" b="0" i="0">
                <a:solidFill>
                  <a:srgbClr val="1A1A1A"/>
                </a:solidFill>
                <a:latin typeface="Calibri"/>
              </a:rPr>
              <a:t>Logs, prompt history and a pre-registered test protocol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463040"/>
          </a:xfrm>
          <a:prstGeom prst="rect">
            <a:avLst/>
          </a:prstGeom>
          <a:noFill/>
        </p:spPr>
        <p:txBody>
          <a:bodyPr wrap="square" anchor="t" lIns="45720" rIns="45720">
            <a:spAutoFit/>
          </a:bodyPr>
          <a:lstStyle/>
          <a:p>
            <a:pPr algn="l"/>
            <a:r>
              <a:rPr sz="4000" b="1" i="0">
                <a:solidFill>
                  <a:srgbClr val="FFFFFF"/>
                </a:solidFill>
                <a:latin typeface="Calibri"/>
              </a:rPr>
              <a:t>The LLM writes.</a:t>
            </a:r>
          </a:p>
          <a:p>
            <a:pPr algn="l"/>
            <a:r>
              <a:rPr sz="4000" b="1" i="0">
                <a:solidFill>
                  <a:srgbClr val="FFFFFF"/>
                </a:solidFill>
                <a:latin typeface="Calibri"/>
              </a:rPr>
              <a:t>Code gathers the facts and checks the output.</a:t>
            </a:r>
          </a:p>
        </p:txBody>
      </p:sp>
      <p:sp>
        <p:nvSpPr>
          <p:cNvPr id="4" name="TextBox 3"/>
          <p:cNvSpPr txBox="1"/>
          <p:nvPr/>
        </p:nvSpPr>
        <p:spPr>
          <a:xfrm>
            <a:off x="822960" y="3657600"/>
            <a:ext cx="10515600" cy="2377440"/>
          </a:xfrm>
          <a:prstGeom prst="rect">
            <a:avLst/>
          </a:prstGeom>
          <a:noFill/>
        </p:spPr>
        <p:txBody>
          <a:bodyPr wrap="square">
            <a:spAutoFit/>
          </a:bodyPr>
          <a:lstStyle/>
          <a:p>
            <a:pPr marL="274320" indent="-228600">
              <a:spcAft>
                <a:spcPts val="800"/>
              </a:spcAft>
              <a:buChar char="•"/>
            </a:pPr>
            <a:r>
              <a:rPr sz="2000" b="0" i="0">
                <a:solidFill>
                  <a:srgbClr val="FFFFFF"/>
                </a:solidFill>
                <a:latin typeface="Calibri"/>
              </a:rPr>
              <a:t>Client facts come from Apex queries in user mode, never model memory</a:t>
            </a:r>
          </a:p>
          <a:p>
            <a:pPr marL="274320" indent="-228600">
              <a:spcAft>
                <a:spcPts val="800"/>
              </a:spcAft>
              <a:buChar char="•"/>
            </a:pPr>
            <a:r>
              <a:rPr sz="2000" b="0" i="0">
                <a:solidFill>
                  <a:srgbClr val="FFFFFF"/>
                </a:solidFill>
                <a:latin typeface="Calibri"/>
              </a:rPr>
              <a:t>Templates return strict JSON; Apex validates it</a:t>
            </a:r>
          </a:p>
          <a:p>
            <a:pPr marL="274320" indent="-228600">
              <a:spcAft>
                <a:spcPts val="800"/>
              </a:spcAft>
              <a:buChar char="•"/>
            </a:pPr>
            <a:r>
              <a:rPr sz="2000" b="0" i="0">
                <a:solidFill>
                  <a:srgbClr val="FFFFFF"/>
                </a:solidFill>
                <a:latin typeface="Calibri"/>
              </a:rPr>
              <a:t>One plain retry, then a labelled data-only fallback</a:t>
            </a:r>
          </a:p>
          <a:p>
            <a:pPr marL="274320" indent="-228600">
              <a:spcAft>
                <a:spcPts val="800"/>
              </a:spcAft>
              <a:buChar char="•"/>
            </a:pPr>
            <a:r>
              <a:rPr sz="2000" b="0" i="0">
                <a:solidFill>
                  <a:srgbClr val="FFFFFF"/>
                </a:solidFill>
                <a:latin typeface="Calibri"/>
              </a:rPr>
              <a:t>Every request leaves one log row</a:t>
            </a:r>
          </a:p>
        </p:txBody>
      </p: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D9E2EC"/>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D9E2E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Architecture</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4</a:t>
            </a:r>
          </a:p>
        </p:txBody>
      </p:sp>
      <p:pic>
        <p:nvPicPr>
          <p:cNvPr id="7" name="Picture 6" descr="architecture.png"/>
          <p:cNvPicPr>
            <a:picLocks noChangeAspect="1"/>
          </p:cNvPicPr>
          <p:nvPr/>
        </p:nvPicPr>
        <p:blipFill>
          <a:blip r:embed="rId2"/>
          <a:stretch>
            <a:fillRect/>
          </a:stretch>
        </p:blipFill>
        <p:spPr>
          <a:xfrm>
            <a:off x="1866747" y="1188720"/>
            <a:ext cx="8458200" cy="50749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an output is checked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6</a:t>
            </a:r>
          </a:p>
        </p:txBody>
      </p:sp>
      <p:graphicFrame>
        <p:nvGraphicFramePr>
          <p:cNvPr id="7" name="Table 6"/>
          <p:cNvGraphicFramePr>
            <a:graphicFrameLocks noGrp="1"/>
          </p:cNvGraphicFramePr>
          <p:nvPr/>
        </p:nvGraphicFramePr>
        <p:xfrm>
          <a:off x="548640" y="1371600"/>
          <a:ext cx="5486400" cy="2194560"/>
        </p:xfrm>
        <a:graphic>
          <a:graphicData uri="http://schemas.openxmlformats.org/drawingml/2006/table">
            <a:tbl>
              <a:tblPr firstRow="1" bandRow="1">
                <a:tableStyleId>{5C22544A-7EE6-4342-B048-85BDC9FD1C3A}</a:tableStyleId>
              </a:tblPr>
              <a:tblGrid>
                <a:gridCol w="1645920"/>
                <a:gridCol w="3840480"/>
              </a:tblGrid>
              <a:tr h="548640">
                <a:tc>
                  <a:txBody>
                    <a:bodyPr wrap="square"/>
                    <a:lstStyle/>
                    <a:p>
                      <a:r>
                        <a:rPr sz="1600" b="1" i="0">
                          <a:solidFill>
                            <a:srgbClr val="FFFFFF"/>
                          </a:solidFill>
                          <a:latin typeface="Calibri"/>
                        </a:rPr>
                        <a:t>Tier</a:t>
                      </a:r>
                    </a:p>
                  </a:txBody>
                  <a:tcPr marL="73152" marR="73152" marT="36576" marB="36576" anchor="ctr">
                    <a:solidFill>
                      <a:srgbClr val="1F4E79"/>
                    </a:solidFill>
                  </a:tcPr>
                </a:tc>
                <a:tc>
                  <a:txBody>
                    <a:bodyPr wrap="square"/>
                    <a:lstStyle/>
                    <a:p>
                      <a:r>
                        <a:rPr sz="1600" b="1" i="0">
                          <a:solidFill>
                            <a:srgbClr val="FFFFFF"/>
                          </a:solidFill>
                          <a:latin typeface="Calibri"/>
                        </a:rPr>
                        <a:t>What happens</a:t>
                      </a:r>
                    </a:p>
                  </a:txBody>
                  <a:tcPr marL="73152" marR="73152" marT="36576" marB="36576" anchor="ctr">
                    <a:solidFill>
                      <a:srgbClr val="1F4E79"/>
                    </a:solidFill>
                  </a:tcPr>
                </a:tc>
              </a:tr>
              <a:tr h="548640">
                <a:tc>
                  <a:txBody>
                    <a:bodyPr wrap="square"/>
                    <a:lstStyle/>
                    <a:p>
                      <a:r>
                        <a:rPr sz="1600" b="0" i="0">
                          <a:solidFill>
                            <a:srgbClr val="1A1A1A"/>
                          </a:solidFill>
                          <a:latin typeface="Calibri"/>
                        </a:rPr>
                        <a:t>Block</a:t>
                      </a:r>
                    </a:p>
                  </a:txBody>
                  <a:tcPr marL="73152" marR="73152" marT="36576" marB="36576" anchor="ctr">
                    <a:solidFill>
                      <a:srgbClr val="FFFFFF"/>
                    </a:solidFill>
                  </a:tcPr>
                </a:tc>
                <a:tc>
                  <a:txBody>
                    <a:bodyPr wrap="square"/>
                    <a:lstStyle/>
                    <a:p>
                      <a:r>
                        <a:rPr sz="1600" b="0" i="0">
                          <a:solidFill>
                            <a:srgbClr val="1A1A1A"/>
                          </a:solidFill>
                          <a:latin typeface="Calibri"/>
                        </a:rPr>
                        <a:t>Retry once, then fallback</a:t>
                      </a:r>
                    </a:p>
                  </a:txBody>
                  <a:tcPr marL="73152" marR="73152" marT="36576" marB="36576" anchor="ctr">
                    <a:solidFill>
                      <a:srgbClr val="FFFFFF"/>
                    </a:solidFill>
                  </a:tcPr>
                </a:tc>
              </a:tr>
              <a:tr h="548640">
                <a:tc>
                  <a:txBody>
                    <a:bodyPr wrap="square"/>
                    <a:lstStyle/>
                    <a:p>
                      <a:r>
                        <a:rPr sz="1600" b="0" i="0">
                          <a:solidFill>
                            <a:srgbClr val="1A1A1A"/>
                          </a:solidFill>
                          <a:latin typeface="Calibri"/>
                        </a:rPr>
                        <a:t>Repair</a:t>
                      </a:r>
                    </a:p>
                  </a:txBody>
                  <a:tcPr marL="73152" marR="73152" marT="36576" marB="36576" anchor="ctr">
                    <a:solidFill>
                      <a:srgbClr val="EAF1F8"/>
                    </a:solidFill>
                  </a:tcPr>
                </a:tc>
                <a:tc>
                  <a:txBody>
                    <a:bodyPr wrap="square"/>
                    <a:lstStyle/>
                    <a:p>
                      <a:r>
                        <a:rPr sz="1600" b="0" i="0">
                          <a:solidFill>
                            <a:srgbClr val="1A1A1A"/>
                          </a:solidFill>
                          <a:latin typeface="Calibri"/>
                        </a:rPr>
                        <a:t>Code fixes it; status "(Repaired)"</a:t>
                      </a:r>
                    </a:p>
                  </a:txBody>
                  <a:tcPr marL="73152" marR="73152" marT="36576" marB="36576" anchor="ctr">
                    <a:solidFill>
                      <a:srgbClr val="EAF1F8"/>
                    </a:solidFill>
                  </a:tcPr>
                </a:tc>
              </a:tr>
              <a:tr h="548640">
                <a:tc>
                  <a:txBody>
                    <a:bodyPr wrap="square"/>
                    <a:lstStyle/>
                    <a:p>
                      <a:r>
                        <a:rPr sz="1600" b="0" i="0">
                          <a:solidFill>
                            <a:srgbClr val="1A1A1A"/>
                          </a:solidFill>
                          <a:latin typeface="Calibri"/>
                        </a:rPr>
                        <a:t>Offline only</a:t>
                      </a:r>
                    </a:p>
                  </a:txBody>
                  <a:tcPr marL="73152" marR="73152" marT="36576" marB="36576" anchor="ctr">
                    <a:solidFill>
                      <a:srgbClr val="FFFFFF"/>
                    </a:solidFill>
                  </a:tcPr>
                </a:tc>
                <a:tc>
                  <a:txBody>
                    <a:bodyPr wrap="square"/>
                    <a:lstStyle/>
                    <a:p>
                      <a:r>
                        <a:rPr sz="1600" b="0" i="0">
                          <a:solidFill>
                            <a:srgbClr val="1A1A1A"/>
                          </a:solidFill>
                          <a:latin typeface="Calibri"/>
                        </a:rPr>
                        <a:t>Measured on the test set</a:t>
                      </a:r>
                    </a:p>
                  </a:txBody>
                  <a:tcPr marL="73152" marR="73152" marT="36576" marB="36576" anchor="ctr">
                    <a:solidFill>
                      <a:srgbClr val="FFFFFF"/>
                    </a:solidFill>
                  </a:tcPr>
                </a:tc>
              </a:tr>
            </a:tbl>
          </a:graphicData>
        </a:graphic>
      </p:graphicFrame>
      <p:sp>
        <p:nvSpPr>
          <p:cNvPr id="8" name="TextBox 7"/>
          <p:cNvSpPr txBox="1"/>
          <p:nvPr/>
        </p:nvSpPr>
        <p:spPr>
          <a:xfrm>
            <a:off x="548640" y="3840480"/>
            <a:ext cx="5486400" cy="2377440"/>
          </a:xfrm>
          <a:prstGeom prst="rect">
            <a:avLst/>
          </a:prstGeom>
          <a:noFill/>
        </p:spPr>
        <p:txBody>
          <a:bodyPr wrap="square">
            <a:spAutoFit/>
          </a:bodyPr>
          <a:lstStyle/>
          <a:p>
            <a:pPr marL="274320" indent="-228600">
              <a:spcAft>
                <a:spcPts val="800"/>
              </a:spcAft>
              <a:buChar char="•"/>
            </a:pPr>
            <a:r>
              <a:rPr sz="1900" b="0" i="0">
                <a:solidFill>
                  <a:srgbClr val="1A1A1A"/>
                </a:solidFill>
                <a:latin typeface="Calibri"/>
              </a:rPr>
              <a:t>Block: unknown source id, amount not in context</a:t>
            </a:r>
          </a:p>
          <a:p>
            <a:pPr marL="274320" indent="-228600">
              <a:spcAft>
                <a:spcPts val="800"/>
              </a:spcAft>
              <a:buChar char="•"/>
            </a:pPr>
            <a:r>
              <a:rPr sz="1900" b="0" i="0">
                <a:solidFill>
                  <a:srgbClr val="1A1A1A"/>
                </a:solidFill>
                <a:latin typeface="Calibri"/>
              </a:rPr>
              <a:t>Repair: next step = full clause; owner set by code</a:t>
            </a:r>
          </a:p>
          <a:p>
            <a:pPr marL="274320" indent="-228600">
              <a:spcAft>
                <a:spcPts val="800"/>
              </a:spcAft>
              <a:buChar char="•"/>
            </a:pPr>
            <a:r>
              <a:rPr sz="1900" b="0" i="0">
                <a:solidFill>
                  <a:srgbClr val="1A1A1A"/>
                </a:solidFill>
                <a:latin typeface="Calibri"/>
              </a:rPr>
              <a:t>Offline: wording, attribution</a:t>
            </a:r>
          </a:p>
        </p:txBody>
      </p:sp>
      <p:sp>
        <p:nvSpPr>
          <p:cNvPr id="9" name="Rounded Rectangle 8"/>
          <p:cNvSpPr/>
          <p:nvPr/>
        </p:nvSpPr>
        <p:spPr>
          <a:xfrm>
            <a:off x="6309360" y="1371600"/>
            <a:ext cx="5349240" cy="224028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81328"/>
            <a:ext cx="5074920" cy="457200"/>
          </a:xfrm>
          <a:prstGeom prst="rect">
            <a:avLst/>
          </a:prstGeom>
          <a:noFill/>
        </p:spPr>
        <p:txBody>
          <a:bodyPr wrap="square" anchor="t" lIns="45720" rIns="45720">
            <a:spAutoFit/>
          </a:bodyPr>
          <a:lstStyle/>
          <a:p>
            <a:pPr algn="l"/>
            <a:r>
              <a:rPr sz="2100" b="1" i="0">
                <a:solidFill>
                  <a:srgbClr val="1F4E79"/>
                </a:solidFill>
                <a:latin typeface="Calibri"/>
              </a:rPr>
              <a:t>Real repair (GPT 5.4, MTG-0013 run 2)</a:t>
            </a:r>
          </a:p>
        </p:txBody>
      </p:sp>
      <p:sp>
        <p:nvSpPr>
          <p:cNvPr id="11" name="TextBox 10"/>
          <p:cNvSpPr txBox="1"/>
          <p:nvPr/>
        </p:nvSpPr>
        <p:spPr>
          <a:xfrm>
            <a:off x="6400800" y="1965960"/>
            <a:ext cx="5166360" cy="155448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Model: "send buyer list", owner Tom Brennan</a:t>
            </a:r>
          </a:p>
          <a:p>
            <a:pPr marL="274320" indent="-228600">
              <a:spcAft>
                <a:spcPts val="600"/>
              </a:spcAft>
              <a:buChar char="•"/>
            </a:pPr>
            <a:r>
              <a:rPr sz="1900" b="0" i="0">
                <a:solidFill>
                  <a:srgbClr val="1A1A1A"/>
                </a:solidFill>
                <a:latin typeface="Calibri"/>
              </a:rPr>
              <a:t>Code: "send buyer list (TB)", owner Unassigned</a:t>
            </a:r>
          </a:p>
        </p:txBody>
      </p:sp>
      <p:sp>
        <p:nvSpPr>
          <p:cNvPr id="12" name="Rounded Rectangle 11"/>
          <p:cNvSpPr/>
          <p:nvPr/>
        </p:nvSpPr>
        <p:spPr>
          <a:xfrm>
            <a:off x="6309360" y="3794760"/>
            <a:ext cx="5349240" cy="20574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904488"/>
            <a:ext cx="5074920" cy="457200"/>
          </a:xfrm>
          <a:prstGeom prst="rect">
            <a:avLst/>
          </a:prstGeom>
          <a:noFill/>
        </p:spPr>
        <p:txBody>
          <a:bodyPr wrap="square" anchor="t" lIns="45720" rIns="45720">
            <a:spAutoFit/>
          </a:bodyPr>
          <a:lstStyle/>
          <a:p>
            <a:pPr algn="l"/>
            <a:r>
              <a:rPr sz="2100" b="1" i="0">
                <a:solidFill>
                  <a:srgbClr val="1F4E79"/>
                </a:solidFill>
                <a:latin typeface="Calibri"/>
              </a:rPr>
              <a:t>Real block (GPT 5.4, MTG-0016 run 1)</a:t>
            </a:r>
          </a:p>
        </p:txBody>
      </p:sp>
      <p:sp>
        <p:nvSpPr>
          <p:cNvPr id="14" name="TextBox 13"/>
          <p:cNvSpPr txBox="1"/>
          <p:nvPr/>
        </p:nvSpPr>
        <p:spPr>
          <a:xfrm>
            <a:off x="6400800" y="4389120"/>
            <a:ext cx="5166360" cy="13716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Invalid JSON at column 2190</a:t>
            </a:r>
          </a:p>
          <a:p>
            <a:pPr marL="274320" indent="-228600">
              <a:spcAft>
                <a:spcPts val="600"/>
              </a:spcAft>
              <a:buChar char="•"/>
            </a:pPr>
            <a:r>
              <a:rPr sz="1900" b="0" i="0">
                <a:solidFill>
                  <a:srgbClr val="1A1A1A"/>
                </a:solidFill>
                <a:latin typeface="Calibri"/>
              </a:rPr>
              <a:t>One plain retry of the frozen template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gridCol w="822960"/>
                <a:gridCol w="822960"/>
                <a:gridCol w="822960"/>
                <a:gridCol w="1188720"/>
                <a:gridCol w="1463040"/>
              </a:tblGrid>
              <a:tr h="502920">
                <a:tc>
                  <a:txBody>
                    <a:bodyPr wrap="square"/>
                    <a:lstStyle/>
                    <a:p>
                      <a:r>
                        <a:rPr sz="1500" b="1" i="0">
                          <a:solidFill>
                            <a:srgbClr val="FFFFFF"/>
                          </a:solidFill>
                          <a:latin typeface="Calibri"/>
                        </a:rPr>
                        <a:t>Measure</a:t>
                      </a:r>
                    </a:p>
                  </a:txBody>
                  <a:tcPr marL="73152" marR="73152" marT="36576" marB="36576" anchor="ctr">
                    <a:solidFill>
                      <a:srgbClr val="1F4E79"/>
                    </a:solidFill>
                  </a:tcPr>
                </a:tc>
                <a:tc>
                  <a:txBody>
                    <a:bodyPr wrap="square"/>
                    <a:lstStyle/>
                    <a:p>
                      <a:r>
                        <a:rPr sz="1500" b="1" i="0">
                          <a:solidFill>
                            <a:srgbClr val="FFFFFF"/>
                          </a:solidFill>
                          <a:latin typeface="Calibri"/>
                        </a:rPr>
                        <a:t>v1</a:t>
                      </a:r>
                    </a:p>
                  </a:txBody>
                  <a:tcPr marL="73152" marR="73152" marT="36576" marB="36576" anchor="ctr">
                    <a:solidFill>
                      <a:srgbClr val="1F4E79"/>
                    </a:solidFill>
                  </a:tcPr>
                </a:tc>
                <a:tc>
                  <a:txBody>
                    <a:bodyPr wrap="square"/>
                    <a:lstStyle/>
                    <a:p>
                      <a:r>
                        <a:rPr sz="1500" b="1" i="0">
                          <a:solidFill>
                            <a:srgbClr val="FFFFFF"/>
                          </a:solidFill>
                          <a:latin typeface="Calibri"/>
                        </a:rPr>
                        <a:t>v2</a:t>
                      </a:r>
                    </a:p>
                  </a:txBody>
                  <a:tcPr marL="73152" marR="73152" marT="36576" marB="36576" anchor="ctr">
                    <a:solidFill>
                      <a:srgbClr val="1F4E79"/>
                    </a:solidFill>
                  </a:tcPr>
                </a:tc>
                <a:tc>
                  <a:txBody>
                    <a:bodyPr wrap="square"/>
                    <a:lstStyle/>
                    <a:p>
                      <a:r>
                        <a:rPr sz="1500" b="1" i="0">
                          <a:solidFill>
                            <a:srgbClr val="FFFFFF"/>
                          </a:solidFill>
                          <a:latin typeface="Calibri"/>
                        </a:rPr>
                        <a:t>v3</a:t>
                      </a:r>
                    </a:p>
                  </a:txBody>
                  <a:tcPr marL="73152" marR="73152" marT="36576" marB="36576" anchor="ctr">
                    <a:solidFill>
                      <a:srgbClr val="1F4E79"/>
                    </a:solidFill>
                  </a:tcPr>
                </a:tc>
                <a:tc>
                  <a:txBody>
                    <a:bodyPr wrap="square"/>
                    <a:lstStyle/>
                    <a:p>
                      <a:r>
                        <a:rPr sz="1500" b="1" i="0">
                          <a:solidFill>
                            <a:srgbClr val="FFFFFF"/>
                          </a:solidFill>
                          <a:latin typeface="Calibri"/>
                        </a:rPr>
                        <a:t>v4 Mini</a:t>
                      </a:r>
                    </a:p>
                  </a:txBody>
                  <a:tcPr marL="73152" marR="73152" marT="36576" marB="36576" anchor="ctr">
                    <a:solidFill>
                      <a:srgbClr val="1F4E79"/>
                    </a:solidFill>
                  </a:tcPr>
                </a:tc>
                <a:tc>
                  <a:txBody>
                    <a:bodyPr wrap="square"/>
                    <a:lstStyle/>
                    <a:p>
                      <a:r>
                        <a:rPr sz="1500" b="1" i="0">
                          <a:solidFill>
                            <a:srgbClr val="FFFFFF"/>
                          </a:solidFill>
                          <a:latin typeface="Calibri"/>
                        </a:rPr>
                        <a:t>v4 GPT 5.4</a:t>
                      </a:r>
                    </a:p>
                  </a:txBody>
                  <a:tcPr marL="73152" marR="73152" marT="36576" marB="36576" anchor="ctr">
                    <a:solidFill>
                      <a:srgbClr val="1F4E79"/>
                    </a:solidFill>
                  </a:tcPr>
                </a:tc>
              </a:tr>
              <a:tr h="502920">
                <a:tc>
                  <a:txBody>
                    <a:bodyPr wrap="square"/>
                    <a:lstStyle/>
                    <a:p>
                      <a:r>
                        <a:rPr sz="1500" b="0" i="0">
                          <a:solidFill>
                            <a:srgbClr val="1A1A1A"/>
                          </a:solidFill>
                          <a:latin typeface="Calibri"/>
                        </a:rPr>
                        <a:t>Valid JSON</a:t>
                      </a:r>
                    </a:p>
                  </a:txBody>
                  <a:tcPr marL="73152" marR="73152" marT="36576" marB="36576" anchor="ctr">
                    <a:solidFill>
                      <a:srgbClr val="FFFFFF"/>
                    </a:solidFill>
                  </a:tcPr>
                </a:tc>
                <a:tc>
                  <a:txBody>
                    <a:bodyPr wrap="square"/>
                    <a:lstStyle/>
                    <a:p>
                      <a:r>
                        <a:rPr sz="1500" b="0" i="0">
                          <a:solidFill>
                            <a:srgbClr val="1A1A1A"/>
                          </a:solidFill>
                          <a:latin typeface="Calibri"/>
                        </a:rPr>
                        <a:t>0/3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c>
                  <a:txBody>
                    <a:bodyPr wrap="square"/>
                    <a:lstStyle/>
                    <a:p>
                      <a:r>
                        <a:rPr sz="1500" b="0" i="0">
                          <a:solidFill>
                            <a:srgbClr val="1A1A1A"/>
                          </a:solidFill>
                          <a:latin typeface="Calibri"/>
                        </a:rPr>
                        <a:t>5/6</a:t>
                      </a:r>
                    </a:p>
                  </a:txBody>
                  <a:tcPr marL="73152" marR="73152" marT="36576" marB="36576" anchor="ctr">
                    <a:solidFill>
                      <a:srgbClr val="FFFFFF"/>
                    </a:solidFill>
                  </a:tcPr>
                </a:tc>
              </a:tr>
              <a:tr h="502920">
                <a:tc>
                  <a:txBody>
                    <a:bodyPr wrap="square"/>
                    <a:lstStyle/>
                    <a:p>
                      <a:r>
                        <a:rPr sz="1500" b="0" i="0">
                          <a:solidFill>
                            <a:srgbClr val="1A1A1A"/>
                          </a:solidFill>
                          <a:latin typeface="Calibri"/>
                        </a:rPr>
                        <a:t>Invented facts</a:t>
                      </a:r>
                    </a:p>
                  </a:txBody>
                  <a:tcPr marL="73152" marR="73152" marT="36576" marB="36576" anchor="ctr">
                    <a:solidFill>
                      <a:srgbClr val="EAF1F8"/>
                    </a:solidFill>
                  </a:tcPr>
                </a:tc>
                <a:tc>
                  <a:txBody>
                    <a:bodyPr wrap="square"/>
                    <a:lstStyle/>
                    <a:p>
                      <a:r>
                        <a:rPr sz="1500" b="0" i="0">
                          <a:solidFill>
                            <a:srgbClr val="1A1A1A"/>
                          </a:solidFill>
                          <a:latin typeface="Calibri"/>
                        </a:rPr>
                        <a:t>many</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r>
              <a:tr h="502920">
                <a:tc>
                  <a:txBody>
                    <a:bodyPr wrap="square"/>
                    <a:lstStyle/>
                    <a:p>
                      <a:r>
                        <a:rPr sz="1500" b="0" i="0">
                          <a:solidFill>
                            <a:srgbClr val="1A1A1A"/>
                          </a:solidFill>
                          <a:latin typeface="Calibri"/>
                        </a:rPr>
                        <a:t>Wrong statements</a:t>
                      </a:r>
                    </a:p>
                  </a:txBody>
                  <a:tcPr marL="73152" marR="73152" marT="36576" marB="36576" anchor="ctr">
                    <a:solidFill>
                      <a:srgbClr val="FFFFFF"/>
                    </a:solidFill>
                  </a:tcPr>
                </a:tc>
                <a:tc>
                  <a:txBody>
                    <a:bodyPr wrap="square"/>
                    <a:lstStyle/>
                    <a:p>
                      <a:r>
                        <a:rPr sz="1500" b="0" i="0">
                          <a:solidFill>
                            <a:srgbClr val="1A1A1A"/>
                          </a:solidFill>
                          <a:latin typeface="Calibri"/>
                        </a:rPr>
                        <a:t>–</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7</a:t>
                      </a:r>
                    </a:p>
                  </a:txBody>
                  <a:tcPr marL="73152" marR="73152" marT="36576" marB="36576" anchor="ctr">
                    <a:solidFill>
                      <a:srgbClr val="FFFFFF"/>
                    </a:solidFill>
                  </a:tcPr>
                </a:tc>
                <a:tc>
                  <a:txBody>
                    <a:bodyPr wrap="square"/>
                    <a:lstStyle/>
                    <a:p>
                      <a:r>
                        <a:rPr sz="1500" b="0" i="0">
                          <a:solidFill>
                            <a:srgbClr val="1A1A1A"/>
                          </a:solidFill>
                          <a:latin typeface="Calibri"/>
                        </a:rPr>
                        <a:t>2</a:t>
                      </a:r>
                    </a:p>
                  </a:txBody>
                  <a:tcPr marL="73152" marR="73152" marT="36576" marB="36576" anchor="ctr">
                    <a:solidFill>
                      <a:srgbClr val="FFFFFF"/>
                    </a:solidFill>
                  </a:tcPr>
                </a:tc>
              </a:tr>
              <a:tr h="502920">
                <a:tc>
                  <a:txBody>
                    <a:bodyPr wrap="square"/>
                    <a:lstStyle/>
                    <a:p>
                      <a:r>
                        <a:rPr sz="1500" b="0" i="0">
                          <a:solidFill>
                            <a:srgbClr val="1A1A1A"/>
                          </a:solidFill>
                          <a:latin typeface="Calibri"/>
                        </a:rPr>
                        <a:t>Outputs with no error</a:t>
                      </a:r>
                    </a:p>
                  </a:txBody>
                  <a:tcPr marL="73152" marR="73152" marT="36576" marB="36576" anchor="ctr">
                    <a:solidFill>
                      <a:srgbClr val="EAF1F8"/>
                    </a:solidFill>
                  </a:tcPr>
                </a:tc>
                <a:tc>
                  <a:txBody>
                    <a:bodyPr wrap="square"/>
                    <a:lstStyle/>
                    <a:p>
                      <a:r>
                        <a:rPr sz="1500" b="0" i="0">
                          <a:solidFill>
                            <a:srgbClr val="1A1A1A"/>
                          </a:solidFill>
                          <a:latin typeface="Calibri"/>
                        </a:rPr>
                        <a:t>0/3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1/6</a:t>
                      </a:r>
                    </a:p>
                  </a:txBody>
                  <a:tcPr marL="73152" marR="73152" marT="36576" marB="36576" anchor="ctr">
                    <a:solidFill>
                      <a:srgbClr val="EAF1F8"/>
                    </a:solidFill>
                  </a:tcPr>
                </a:tc>
                <a:tc>
                  <a:txBody>
                    <a:bodyPr wrap="square"/>
                    <a:lstStyle/>
                    <a:p>
                      <a:r>
                        <a:rPr sz="1500" b="0" i="0">
                          <a:solidFill>
                            <a:srgbClr val="1A1A1A"/>
                          </a:solidFill>
                          <a:latin typeface="Calibri"/>
                        </a:rPr>
                        <a:t>3/6</a:t>
                      </a:r>
                    </a:p>
                  </a:txBody>
                  <a:tcPr marL="73152" marR="73152" marT="36576" marB="36576" anchor="ctr">
                    <a:solidFill>
                      <a:srgbClr val="EAF1F8"/>
                    </a:solidFill>
                  </a:tcPr>
                </a:tc>
              </a:tr>
              <a:tr h="502920">
                <a:tc>
                  <a:txBody>
                    <a:bodyPr wrap="square"/>
                    <a:lstStyle/>
                    <a:p>
                      <a:r>
                        <a:rPr sz="1500" b="0" i="0">
                          <a:solidFill>
                            <a:srgbClr val="1A1A1A"/>
                          </a:solidFill>
                          <a:latin typeface="Calibri"/>
                        </a:rPr>
                        <a:t>Attendees as written</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2/3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4/6</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481328"/>
            <a:ext cx="3063240" cy="457200"/>
          </a:xfrm>
          <a:prstGeom prst="rect">
            <a:avLst/>
          </a:prstGeom>
          <a:noFill/>
        </p:spPr>
        <p:txBody>
          <a:bodyPr wrap="square" anchor="t" lIns="45720" rIns="45720">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agent guard, and why</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8</a:t>
            </a:r>
          </a:p>
        </p:txBody>
      </p:sp>
      <p:sp>
        <p:nvSpPr>
          <p:cNvPr id="7" name="Pentagon 6"/>
          <p:cNvSpPr/>
          <p:nvPr/>
        </p:nvSpPr>
        <p:spPr>
          <a:xfrm>
            <a:off x="548640" y="1371600"/>
            <a:ext cx="269748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Set</a:t>
            </a:r>
          </a:p>
        </p:txBody>
      </p:sp>
      <p:sp>
        <p:nvSpPr>
          <p:cNvPr id="8" name="TextBox 7"/>
          <p:cNvSpPr txBox="1"/>
          <p:nvPr/>
        </p:nvSpPr>
        <p:spPr>
          <a:xfrm>
            <a:off x="640080"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Find sets the variable only when exactly one record matches</a:t>
            </a:r>
          </a:p>
        </p:txBody>
      </p:sp>
      <p:sp>
        <p:nvSpPr>
          <p:cNvPr id="9" name="Chevron 8"/>
          <p:cNvSpPr/>
          <p:nvPr/>
        </p:nvSpPr>
        <p:spPr>
          <a:xfrm>
            <a:off x="3355848"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Available when</a:t>
            </a:r>
          </a:p>
        </p:txBody>
      </p:sp>
      <p:sp>
        <p:nvSpPr>
          <p:cNvPr id="10" name="TextBox 9"/>
          <p:cNvSpPr txBox="1"/>
          <p:nvPr/>
        </p:nvSpPr>
        <p:spPr>
          <a:xfrm>
            <a:off x="3447288"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AI action is offered only when it is set</a:t>
            </a:r>
          </a:p>
        </p:txBody>
      </p:sp>
      <p:sp>
        <p:nvSpPr>
          <p:cNvPr id="11" name="Chevron 10"/>
          <p:cNvSpPr/>
          <p:nvPr/>
        </p:nvSpPr>
        <p:spPr>
          <a:xfrm>
            <a:off x="6163056"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Bound</a:t>
            </a:r>
          </a:p>
        </p:txBody>
      </p:sp>
      <p:sp>
        <p:nvSpPr>
          <p:cNvPr id="12" name="TextBox 11"/>
          <p:cNvSpPr txBox="1"/>
          <p:nvPr/>
        </p:nvSpPr>
        <p:spPr>
          <a:xfrm>
            <a:off x="6254496"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record input comes from the variable, not the LLM</a:t>
            </a:r>
          </a:p>
        </p:txBody>
      </p:sp>
      <p:sp>
        <p:nvSpPr>
          <p:cNvPr id="13" name="Chevron 12"/>
          <p:cNvSpPr/>
          <p:nvPr/>
        </p:nvSpPr>
        <p:spPr>
          <a:xfrm>
            <a:off x="8970264"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Cleared</a:t>
            </a:r>
          </a:p>
        </p:txBody>
      </p:sp>
      <p:sp>
        <p:nvSpPr>
          <p:cNvPr id="14" name="TextBox 13"/>
          <p:cNvSpPr txBox="1"/>
          <p:nvPr/>
        </p:nvSpPr>
        <p:spPr>
          <a:xfrm>
            <a:off x="9061704"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Reset after use: no stale selection</a:t>
            </a:r>
          </a:p>
        </p:txBody>
      </p:sp>
      <p:graphicFrame>
        <p:nvGraphicFramePr>
          <p:cNvPr id="15" name="Table 14"/>
          <p:cNvGraphicFramePr>
            <a:graphicFrameLocks noGrp="1"/>
          </p:cNvGraphicFramePr>
          <p:nvPr/>
        </p:nvGraphicFramePr>
        <p:xfrm>
          <a:off x="548640" y="3337560"/>
          <a:ext cx="11109960" cy="2194560"/>
        </p:xfrm>
        <a:graphic>
          <a:graphicData uri="http://schemas.openxmlformats.org/drawingml/2006/table">
            <a:tbl>
              <a:tblPr firstRow="1" bandRow="1">
                <a:tableStyleId>{5C22544A-7EE6-4342-B048-85BDC9FD1C3A}</a:tableStyleId>
              </a:tblPr>
              <a:tblGrid>
                <a:gridCol w="1188720"/>
                <a:gridCol w="6035040"/>
                <a:gridCol w="3886200"/>
              </a:tblGrid>
              <a:tr h="548640">
                <a:tc>
                  <a:txBody>
                    <a:bodyPr wrap="square"/>
                    <a:lstStyle/>
                    <a:p>
                      <a:r>
                        <a:rPr sz="1400" b="1" i="0">
                          <a:solidFill>
                            <a:srgbClr val="FFFFFF"/>
                          </a:solidFill>
                          <a:latin typeface="Calibri"/>
                        </a:rPr>
                        <a:t>Test</a:t>
                      </a:r>
                    </a:p>
                  </a:txBody>
                  <a:tcPr marL="73152" marR="73152" marT="36576" marB="36576" anchor="ctr">
                    <a:solidFill>
                      <a:srgbClr val="1F4E79"/>
                    </a:solidFill>
                  </a:tcPr>
                </a:tc>
                <a:tc>
                  <a:txBody>
                    <a:bodyPr wrap="square"/>
                    <a:lstStyle/>
                    <a:p>
                      <a:r>
                        <a:rPr sz="1400" b="1" i="0">
                          <a:solidFill>
                            <a:srgbClr val="FFFFFF"/>
                          </a:solidFill>
                          <a:latin typeface="Calibri"/>
                        </a:rPr>
                        <a:t>What happened</a:t>
                      </a:r>
                    </a:p>
                  </a:txBody>
                  <a:tcPr marL="73152" marR="73152" marT="36576" marB="36576" anchor="ctr">
                    <a:solidFill>
                      <a:srgbClr val="1F4E79"/>
                    </a:solidFill>
                  </a:tcPr>
                </a:tc>
                <a:tc>
                  <a:txBody>
                    <a:bodyPr wrap="square"/>
                    <a:lstStyle/>
                    <a:p>
                      <a:r>
                        <a:rPr sz="1400" b="1" i="0">
                          <a:solidFill>
                            <a:srgbClr val="FFFFFF"/>
                          </a:solidFill>
                          <a:latin typeface="Calibri"/>
                        </a:rPr>
                        <a:t>What it changed</a:t>
                      </a:r>
                    </a:p>
                  </a:txBody>
                  <a:tcPr marL="73152" marR="73152" marT="36576" marB="36576" anchor="ctr">
                    <a:solidFill>
                      <a:srgbClr val="1F4E79"/>
                    </a:solidFill>
                  </a:tcPr>
                </a:tc>
              </a:tr>
              <a:tr h="548640">
                <a:tc>
                  <a:txBody>
                    <a:bodyPr wrap="square"/>
                    <a:lstStyle/>
                    <a:p>
                      <a:r>
                        <a:rPr sz="1400" b="0" i="0">
                          <a:solidFill>
                            <a:srgbClr val="1A1A1A"/>
                          </a:solidFill>
                          <a:latin typeface="Calibri"/>
                        </a:rPr>
                        <a:t>BA-13</a:t>
                      </a:r>
                    </a:p>
                  </a:txBody>
                  <a:tcPr marL="73152" marR="73152" marT="36576" marB="36576" anchor="ctr">
                    <a:solidFill>
                      <a:srgbClr val="FFFFFF"/>
                    </a:solidFill>
                  </a:tcPr>
                </a:tc>
                <a:tc>
                  <a:txBody>
                    <a:bodyPr wrap="square"/>
                    <a:lstStyle/>
                    <a:p>
                      <a:r>
                        <a:rPr sz="1400" b="0" i="0">
                          <a:solidFill>
                            <a:srgbClr val="1A1A1A"/>
                          </a:solidFill>
                          <a:latin typeface="Calibri"/>
                        </a:rPr>
                        <a:t>Agent wrote a link with MTG-0014's Id under MTG-0019</a:t>
                      </a:r>
                    </a:p>
                  </a:txBody>
                  <a:tcPr marL="73152" marR="73152" marT="36576" marB="36576" anchor="ctr">
                    <a:solidFill>
                      <a:srgbClr val="FFFFFF"/>
                    </a:solidFill>
                  </a:tcPr>
                </a:tc>
                <a:tc>
                  <a:txBody>
                    <a:bodyPr wrap="square"/>
                    <a:lstStyle/>
                    <a:p>
                      <a:r>
                        <a:rPr sz="1400" b="0" i="0">
                          <a:solidFill>
                            <a:srgbClr val="1A1A1A"/>
                          </a:solidFill>
                          <a:latin typeface="Calibri"/>
                        </a:rPr>
                        <a:t>Links only from Apex</a:t>
                      </a:r>
                    </a:p>
                  </a:txBody>
                  <a:tcPr marL="73152" marR="73152" marT="36576" marB="36576" anchor="ctr">
                    <a:solidFill>
                      <a:srgbClr val="FFFFFF"/>
                    </a:solidFill>
                  </a:tcPr>
                </a:tc>
              </a:tr>
              <a:tr h="548640">
                <a:tc>
                  <a:txBody>
                    <a:bodyPr wrap="square"/>
                    <a:lstStyle/>
                    <a:p>
                      <a:r>
                        <a:rPr sz="1400" b="0" i="0">
                          <a:solidFill>
                            <a:srgbClr val="1A1A1A"/>
                          </a:solidFill>
                          <a:latin typeface="Calibri"/>
                        </a:rPr>
                        <a:t>BA-12</a:t>
                      </a:r>
                    </a:p>
                  </a:txBody>
                  <a:tcPr marL="73152" marR="73152" marT="36576" marB="36576" anchor="ctr">
                    <a:solidFill>
                      <a:srgbClr val="EAF1F8"/>
                    </a:solidFill>
                  </a:tcPr>
                </a:tc>
                <a:tc>
                  <a:txBody>
                    <a:bodyPr wrap="square"/>
                    <a:lstStyle/>
                    <a:p>
                      <a:r>
                        <a:rPr sz="1400" b="0" i="0">
                          <a:solidFill>
                            <a:srgbClr val="1A1A1A"/>
                          </a:solidFill>
                          <a:latin typeface="Calibri"/>
                        </a:rPr>
                        <a:t>Switch meetings: each summary used its own Id</a:t>
                      </a:r>
                    </a:p>
                  </a:txBody>
                  <a:tcPr marL="73152" marR="73152" marT="36576" marB="36576" anchor="ctr">
                    <a:solidFill>
                      <a:srgbClr val="EAF1F8"/>
                    </a:solidFill>
                  </a:tcPr>
                </a:tc>
                <a:tc>
                  <a:txBody>
                    <a:bodyPr wrap="square"/>
                    <a:lstStyle/>
                    <a:p>
                      <a:r>
                        <a:rPr sz="1400" b="0" i="0">
                          <a:solidFill>
                            <a:srgbClr val="1A1A1A"/>
                          </a:solidFill>
                          <a:latin typeface="Calibri"/>
                        </a:rPr>
                        <a:t>Guard confirmed</a:t>
                      </a:r>
                    </a:p>
                  </a:txBody>
                  <a:tcPr marL="73152" marR="73152" marT="36576" marB="36576" anchor="ctr">
                    <a:solidFill>
                      <a:srgbClr val="EAF1F8"/>
                    </a:solidFill>
                  </a:tcPr>
                </a:tc>
              </a:tr>
              <a:tr h="548640">
                <a:tc>
                  <a:txBody>
                    <a:bodyPr wrap="square"/>
                    <a:lstStyle/>
                    <a:p>
                      <a:r>
                        <a:rPr sz="1400" b="0" i="0">
                          <a:solidFill>
                            <a:srgbClr val="1A1A1A"/>
                          </a:solidFill>
                          <a:latin typeface="Calibri"/>
                        </a:rPr>
                        <a:t>BA-24</a:t>
                      </a:r>
                    </a:p>
                  </a:txBody>
                  <a:tcPr marL="73152" marR="73152" marT="36576" marB="36576" anchor="ctr">
                    <a:solidFill>
                      <a:srgbClr val="FFFFFF"/>
                    </a:solidFill>
                  </a:tcPr>
                </a:tc>
                <a:tc>
                  <a:txBody>
                    <a:bodyPr wrap="square"/>
                    <a:lstStyle/>
                    <a:p>
                      <a:r>
                        <a:rPr sz="1400" b="0" i="0">
                          <a:solidFill>
                            <a:srgbClr val="1A1A1A"/>
                          </a:solidFill>
                          <a:latin typeface="Calibri"/>
                        </a:rPr>
                        <a:t>"Yes" replayed an old result; Generate was unavailable</a:t>
                      </a:r>
                    </a:p>
                  </a:txBody>
                  <a:tcPr marL="73152" marR="73152" marT="36576" marB="36576" anchor="ctr">
                    <a:solidFill>
                      <a:srgbClr val="FFFFFF"/>
                    </a:solidFill>
                  </a:tcPr>
                </a:tc>
                <a:tc>
                  <a:txBody>
                    <a:bodyPr wrap="square"/>
                    <a:lstStyle/>
                    <a:p>
                      <a:r>
                        <a:rPr sz="1400" b="0" i="0">
                          <a:solidFill>
                            <a:srgbClr val="1A1A1A"/>
                          </a:solidFill>
                          <a:latin typeface="Calibri"/>
                        </a:rPr>
                        <a:t>Save time in the Message</a:t>
                      </a:r>
                    </a:p>
                  </a:txBody>
                  <a:tcPr marL="73152" marR="73152"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Security model</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9</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Data access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Every query and DML in user mode; grounding runs as the banker</a:t>
            </a:r>
          </a:p>
          <a:p>
            <a:pPr marL="274320" indent="-228600">
              <a:spcAft>
                <a:spcPts val="600"/>
              </a:spcAft>
              <a:buChar char="•"/>
            </a:pPr>
            <a:r>
              <a:rPr sz="2100" b="0" i="0">
                <a:solidFill>
                  <a:srgbClr val="1A1A1A"/>
                </a:solidFill>
                <a:latin typeface="Calibri"/>
              </a:rPr>
              <a:t>Bankers: Banker_Summary + Prompt Template User, nothing else</a:t>
            </a:r>
          </a:p>
          <a:p>
            <a:pPr marL="274320" indent="-228600">
              <a:spcAft>
                <a:spcPts val="600"/>
              </a:spcAft>
              <a:buChar char="•"/>
            </a:pPr>
            <a:r>
              <a:rPr sz="2100" b="0" i="0">
                <a:solidFill>
                  <a:srgbClr val="1A1A1A"/>
                </a:solidFill>
                <a:latin typeface="Calibri"/>
              </a:rPr>
              <a:t>Log: Private; AI_Ops and admins can read it, bankers cannot</a:t>
            </a:r>
          </a:p>
          <a:p>
            <a:pPr marL="274320" indent="-228600">
              <a:spcAft>
                <a:spcPts val="600"/>
              </a:spcAft>
              <a:buChar char="•"/>
            </a:pPr>
            <a:r>
              <a:rPr sz="2100" b="0" i="0">
                <a:solidFill>
                  <a:srgbClr val="1A1A1A"/>
                </a:solidFill>
                <a:latin typeface="Calibri"/>
              </a:rPr>
              <a:t>Trusted URLs bound the domain; links built in Apex</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Untrusted text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Notes and research in labelled untrusted blocks</a:t>
            </a:r>
          </a:p>
          <a:p>
            <a:pPr marL="274320" indent="-228600">
              <a:spcAft>
                <a:spcPts val="600"/>
              </a:spcAft>
              <a:buChar char="•"/>
            </a:pPr>
            <a:r>
              <a:rPr sz="2100" b="0" i="0">
                <a:solidFill>
                  <a:srgbClr val="1A1A1A"/>
                </a:solidFill>
                <a:latin typeface="Calibri"/>
              </a:rPr>
              <a:t>Injected instructions quoted, never followed</a:t>
            </a:r>
          </a:p>
          <a:p>
            <a:pPr marL="274320" indent="-228600">
              <a:spcAft>
                <a:spcPts val="600"/>
              </a:spcAft>
              <a:buChar char="•"/>
            </a:pPr>
            <a:r>
              <a:rPr sz="2100" b="0" i="0">
                <a:solidFill>
                  <a:srgbClr val="1A1A1A"/>
                </a:solidFill>
                <a:latin typeface="Calibri"/>
              </a:rPr>
              <a:t>Code blocks any step or answer built from them</a:t>
            </a:r>
          </a:p>
          <a:p>
            <a:pPr marL="274320" indent="-228600">
              <a:spcAft>
                <a:spcPts val="600"/>
              </a:spcAft>
              <a:buChar char="•"/>
            </a:pPr>
            <a:r>
              <a:rPr sz="2100" b="0" i="0">
                <a:solidFill>
                  <a:srgbClr val="1A1A1A"/>
                </a:solidFill>
                <a:latin typeface="Calibri"/>
              </a:rPr>
              <a:t>Cross-client check before any LLM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Testing approach</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10</a:t>
            </a:r>
          </a:p>
        </p:txBody>
      </p:sp>
      <p:sp>
        <p:nvSpPr>
          <p:cNvPr id="7" name="TextBox 6"/>
          <p:cNvSpPr txBox="1"/>
          <p:nvPr/>
        </p:nvSpPr>
        <p:spPr>
          <a:xfrm>
            <a:off x="548640" y="1371600"/>
            <a:ext cx="5760720" cy="4480560"/>
          </a:xfrm>
          <a:prstGeom prst="rect">
            <a:avLst/>
          </a:prstGeom>
          <a:noFill/>
        </p:spPr>
        <p:txBody>
          <a:bodyPr wrap="square">
            <a:spAutoFit/>
          </a:bodyPr>
          <a:lstStyle/>
          <a:p>
            <a:pPr marL="274320" indent="-228600">
              <a:spcAft>
                <a:spcPts val="800"/>
              </a:spcAft>
              <a:buChar char="•"/>
            </a:pPr>
            <a:r>
              <a:rPr sz="2000" b="1" i="0">
                <a:solidFill>
                  <a:srgbClr val="1A1A1A"/>
                </a:solidFill>
                <a:latin typeface="Calibri"/>
              </a:rPr>
              <a:t>Pre-registered:</a:t>
            </a:r>
            <a:r>
              <a:rPr sz="2000" b="0" i="0">
                <a:solidFill>
                  <a:srgbClr val="1A1A1A"/>
                </a:solidFill>
                <a:latin typeface="Calibri"/>
              </a:rPr>
              <a:t> criteria committed before any run (dd3ce33)</a:t>
            </a:r>
          </a:p>
          <a:p>
            <a:pPr marL="274320" indent="-228600">
              <a:spcAft>
                <a:spcPts val="800"/>
              </a:spcAft>
              <a:buChar char="•"/>
            </a:pPr>
            <a:r>
              <a:rPr sz="2000" b="1" i="0">
                <a:solidFill>
                  <a:srgbClr val="1A1A1A"/>
                </a:solidFill>
                <a:latin typeface="Calibri"/>
              </a:rPr>
              <a:t>Holdouts:</a:t>
            </a:r>
            <a:r>
              <a:rPr sz="2000" b="0" i="0">
                <a:solidFill>
                  <a:srgbClr val="1A1A1A"/>
                </a:solidFill>
                <a:latin typeface="Calibri"/>
              </a:rPr>
              <a:t> Meridian, never used to write prompts or rules</a:t>
            </a:r>
          </a:p>
          <a:p>
            <a:pPr marL="274320" indent="-228600">
              <a:spcAft>
                <a:spcPts val="800"/>
              </a:spcAft>
              <a:buChar char="•"/>
            </a:pPr>
            <a:r>
              <a:rPr sz="2000" b="1" i="0">
                <a:solidFill>
                  <a:srgbClr val="1A1A1A"/>
                </a:solidFill>
                <a:latin typeface="Calibri"/>
              </a:rPr>
              <a:t>Replay + mutation:</a:t>
            </a:r>
            <a:r>
              <a:rPr sz="2000" b="0" i="0">
                <a:solidFill>
                  <a:srgbClr val="1A1A1A"/>
                </a:solidFill>
                <a:latin typeface="Calibri"/>
              </a:rPr>
              <a:t> saved outputs through deployed validators</a:t>
            </a:r>
          </a:p>
          <a:p>
            <a:pPr marL="274320" indent="-228600">
              <a:spcAft>
                <a:spcPts val="800"/>
              </a:spcAft>
              <a:buChar char="•"/>
            </a:pPr>
            <a:r>
              <a:rPr sz="2000" b="1" i="0">
                <a:solidFill>
                  <a:srgbClr val="1A1A1A"/>
                </a:solidFill>
                <a:latin typeface="Calibri"/>
              </a:rPr>
              <a:t>Evidence after the change:</a:t>
            </a:r>
            <a:r>
              <a:rPr sz="2000" b="0" i="0">
                <a:solidFill>
                  <a:srgbClr val="1A1A1A"/>
                </a:solidFill>
                <a:latin typeface="Calibri"/>
              </a:rPr>
              <a:t> log row Id and time</a:t>
            </a:r>
          </a:p>
          <a:p>
            <a:pPr marL="274320" indent="-228600">
              <a:spcAft>
                <a:spcPts val="800"/>
              </a:spcAft>
              <a:buChar char="•"/>
            </a:pPr>
            <a:r>
              <a:rPr sz="2000" b="1" i="0">
                <a:solidFill>
                  <a:srgbClr val="1A1A1A"/>
                </a:solidFill>
                <a:latin typeface="Calibri"/>
              </a:rPr>
              <a:t>Apex:</a:t>
            </a:r>
            <a:r>
              <a:rPr sz="2000" b="0" i="0">
                <a:solidFill>
                  <a:srgbClr val="1A1A1A"/>
                </a:solidFill>
                <a:latin typeface="Calibri"/>
              </a:rPr>
              <a:t> 173/173, every class 90%+, mocked LLM</a:t>
            </a:r>
          </a:p>
        </p:txBody>
      </p:sp>
      <p:graphicFrame>
        <p:nvGraphicFramePr>
          <p:cNvPr id="8" name="Table 7"/>
          <p:cNvGraphicFramePr>
            <a:graphicFrameLocks noGrp="1"/>
          </p:cNvGraphicFramePr>
          <p:nvPr/>
        </p:nvGraphicFramePr>
        <p:xfrm>
          <a:off x="6583680" y="1371600"/>
          <a:ext cx="5074920" cy="3291840"/>
        </p:xfrm>
        <a:graphic>
          <a:graphicData uri="http://schemas.openxmlformats.org/drawingml/2006/table">
            <a:tbl>
              <a:tblPr firstRow="1" bandRow="1">
                <a:tableStyleId>{5C22544A-7EE6-4342-B048-85BDC9FD1C3A}</a:tableStyleId>
              </a:tblPr>
              <a:tblGrid>
                <a:gridCol w="3108960"/>
                <a:gridCol w="1965960"/>
              </a:tblGrid>
              <a:tr h="548640">
                <a:tc>
                  <a:txBody>
                    <a:bodyPr wrap="square"/>
                    <a:lstStyle/>
                    <a:p>
                      <a:r>
                        <a:rPr sz="1400" b="1" i="0">
                          <a:solidFill>
                            <a:srgbClr val="FFFFFF"/>
                          </a:solidFill>
                          <a:latin typeface="Calibri"/>
                        </a:rPr>
                        <a:t>Test cases</a:t>
                      </a:r>
                    </a:p>
                  </a:txBody>
                  <a:tcPr marL="73152" marR="73152" marT="36576" marB="36576" anchor="ctr">
                    <a:solidFill>
                      <a:srgbClr val="1F4E79"/>
                    </a:solidFill>
                  </a:tcPr>
                </a:tc>
                <a:tc>
                  <a:txBody>
                    <a:bodyPr wrap="square"/>
                    <a:lstStyle/>
                    <a:p>
                      <a:r>
                        <a:rPr sz="1400" b="1" i="0">
                          <a:solidFill>
                            <a:srgbClr val="FFFFFF"/>
                          </a:solidFill>
                          <a:latin typeface="Calibri"/>
                        </a:rPr>
                        <a:t>Result</a:t>
                      </a:r>
                    </a:p>
                  </a:txBody>
                  <a:tcPr marL="73152" marR="73152" marT="36576" marB="36576" anchor="ctr">
                    <a:solidFill>
                      <a:srgbClr val="1F4E79"/>
                    </a:solidFill>
                  </a:tcPr>
                </a:tc>
              </a:tr>
              <a:tr h="548640">
                <a:tc>
                  <a:txBody>
                    <a:bodyPr wrap="square"/>
                    <a:lstStyle/>
                    <a:p>
                      <a:r>
                        <a:rPr sz="1400" b="0" i="0">
                          <a:solidFill>
                            <a:srgbClr val="1A1A1A"/>
                          </a:solidFill>
                          <a:latin typeface="Calibri"/>
                        </a:rPr>
                        <a:t>TC-00 to TC-03 (automated)</a:t>
                      </a:r>
                    </a:p>
                  </a:txBody>
                  <a:tcPr marL="73152" marR="73152" marT="36576" marB="36576" anchor="ctr">
                    <a:solidFill>
                      <a:srgbClr val="FFFFFF"/>
                    </a:solidFill>
                  </a:tcPr>
                </a:tc>
                <a:tc>
                  <a:txBody>
                    <a:bodyPr wrap="square"/>
                    <a:lstStyle/>
                    <a:p>
                      <a:r>
                        <a:rPr sz="1400" b="0" i="0">
                          <a:solidFill>
                            <a:srgbClr val="1A1A1A"/>
                          </a:solidFill>
                          <a:latin typeface="Calibri"/>
                        </a:rPr>
                        <a:t>4 Pass</a:t>
                      </a:r>
                    </a:p>
                  </a:txBody>
                  <a:tcPr marL="73152" marR="73152" marT="36576" marB="36576" anchor="ctr">
                    <a:solidFill>
                      <a:srgbClr val="FFFFFF"/>
                    </a:solidFill>
                  </a:tcPr>
                </a:tc>
              </a:tr>
              <a:tr h="548640">
                <a:tc>
                  <a:txBody>
                    <a:bodyPr wrap="square"/>
                    <a:lstStyle/>
                    <a:p>
                      <a:r>
                        <a:rPr sz="1400" b="0" i="0">
                          <a:solidFill>
                            <a:srgbClr val="1A1A1A"/>
                          </a:solidFill>
                          <a:latin typeface="Calibri"/>
                        </a:rPr>
                        <a:t>TC-04 to TC-13 (UI, agent)</a:t>
                      </a:r>
                    </a:p>
                  </a:txBody>
                  <a:tcPr marL="73152" marR="73152" marT="36576" marB="36576" anchor="ctr">
                    <a:solidFill>
                      <a:srgbClr val="EAF1F8"/>
                    </a:solidFill>
                  </a:tcPr>
                </a:tc>
                <a:tc>
                  <a:txBody>
                    <a:bodyPr wrap="square"/>
                    <a:lstStyle/>
                    <a:p>
                      <a:r>
                        <a:rPr sz="1400" b="0" i="0">
                          <a:solidFill>
                            <a:srgbClr val="1A1A1A"/>
                          </a:solidFill>
                          <a:latin typeface="Calibri"/>
                        </a:rPr>
                        <a:t>[after execution]</a:t>
                      </a:r>
                    </a:p>
                  </a:txBody>
                  <a:tcPr marL="73152" marR="73152" marT="36576" marB="36576" anchor="ctr">
                    <a:solidFill>
                      <a:srgbClr val="EAF1F8"/>
                    </a:solidFill>
                  </a:tcPr>
                </a:tc>
              </a:tr>
              <a:tr h="548640">
                <a:tc>
                  <a:txBody>
                    <a:bodyPr wrap="square"/>
                    <a:lstStyle/>
                    <a:p>
                      <a:r>
                        <a:rPr sz="1400" b="0" i="0">
                          <a:solidFill>
                            <a:srgbClr val="1A1A1A"/>
                          </a:solidFill>
                          <a:latin typeface="Calibri"/>
                        </a:rPr>
                        <a:t>TC-14 to TC-21 (holdouts)</a:t>
                      </a:r>
                    </a:p>
                  </a:txBody>
                  <a:tcPr marL="73152" marR="73152" marT="36576" marB="36576" anchor="ctr">
                    <a:solidFill>
                      <a:srgbClr val="FFFFFF"/>
                    </a:solidFill>
                  </a:tcPr>
                </a:tc>
                <a:tc>
                  <a:txBody>
                    <a:bodyPr wrap="square"/>
                    <a:lstStyle/>
                    <a:p>
                      <a:r>
                        <a:rPr sz="1400" b="0" i="0">
                          <a:solidFill>
                            <a:srgbClr val="1A1A1A"/>
                          </a:solidFill>
                          <a:latin typeface="Calibri"/>
                        </a:rPr>
                        <a:t>[after execution]</a:t>
                      </a:r>
                    </a:p>
                  </a:txBody>
                  <a:tcPr marL="73152" marR="73152" marT="36576" marB="36576" anchor="ctr">
                    <a:solidFill>
                      <a:srgbClr val="FFFFFF"/>
                    </a:solidFill>
                  </a:tcPr>
                </a:tc>
              </a:tr>
              <a:tr h="548640">
                <a:tc>
                  <a:txBody>
                    <a:bodyPr wrap="square"/>
                    <a:lstStyle/>
                    <a:p>
                      <a:r>
                        <a:rPr sz="1400" b="0" i="0">
                          <a:solidFill>
                            <a:srgbClr val="1A1A1A"/>
                          </a:solidFill>
                          <a:latin typeface="Calibri"/>
                        </a:rPr>
                        <a:t>TC-22 to TC-24 (access, audit)</a:t>
                      </a:r>
                    </a:p>
                  </a:txBody>
                  <a:tcPr marL="73152" marR="73152" marT="36576" marB="36576" anchor="ctr">
                    <a:solidFill>
                      <a:srgbClr val="EAF1F8"/>
                    </a:solidFill>
                  </a:tcPr>
                </a:tc>
                <a:tc>
                  <a:txBody>
                    <a:bodyPr wrap="square"/>
                    <a:lstStyle/>
                    <a:p>
                      <a:r>
                        <a:rPr sz="1400" b="0" i="0">
                          <a:solidFill>
                            <a:srgbClr val="1A1A1A"/>
                          </a:solidFill>
                          <a:latin typeface="Calibri"/>
                        </a:rPr>
                        <a:t>[after execution]</a:t>
                      </a:r>
                    </a:p>
                  </a:txBody>
                  <a:tcPr marL="73152" marR="73152" marT="36576" marB="36576" anchor="ctr">
                    <a:solidFill>
                      <a:srgbClr val="EAF1F8"/>
                    </a:solidFill>
                  </a:tcPr>
                </a:tc>
              </a:tr>
              <a:tr h="548640">
                <a:tc>
                  <a:txBody>
                    <a:bodyPr wrap="square"/>
                    <a:lstStyle/>
                    <a:p>
                      <a:r>
                        <a:rPr sz="1400" b="0" i="0">
                          <a:solidFill>
                            <a:srgbClr val="1A1A1A"/>
                          </a:solidFill>
                          <a:latin typeface="Calibri"/>
                        </a:rPr>
                        <a:t>TC-25 (CONFIGURATION)</a:t>
                      </a:r>
                    </a:p>
                  </a:txBody>
                  <a:tcPr marL="73152" marR="73152" marT="36576" marB="36576" anchor="ctr">
                    <a:solidFill>
                      <a:srgbClr val="FFFFFF"/>
                    </a:solidFill>
                  </a:tcPr>
                </a:tc>
                <a:tc>
                  <a:txBody>
                    <a:bodyPr wrap="square"/>
                    <a:lstStyle/>
                    <a:p>
                      <a:r>
                        <a:rPr sz="1400" b="0" i="0">
                          <a:solidFill>
                            <a:srgbClr val="1A1A1A"/>
                          </a:solidFill>
                          <a:latin typeface="Calibri"/>
                        </a:rPr>
                        <a:t>Not run (decided)</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What went wrong, and what I learned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11</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766560"/>
                <a:gridCol w="4343400"/>
              </a:tblGrid>
              <a:tr h="658368">
                <a:tc>
                  <a:txBody>
                    <a:bodyPr wrap="square"/>
                    <a:lstStyle/>
                    <a:p>
                      <a:r>
                        <a:rPr sz="1500" b="1" i="0">
                          <a:solidFill>
                            <a:srgbClr val="FFFFFF"/>
                          </a:solidFill>
                          <a:latin typeface="Calibri"/>
                        </a:rPr>
                        <a:t>What happened</a:t>
                      </a:r>
                    </a:p>
                  </a:txBody>
                  <a:tcPr marL="73152" marR="73152" marT="36576" marB="36576" anchor="ctr">
                    <a:solidFill>
                      <a:srgbClr val="1F4E79"/>
                    </a:solidFill>
                  </a:tcPr>
                </a:tc>
                <a:tc>
                  <a:txBody>
                    <a:bodyPr wrap="square"/>
                    <a:lstStyle/>
                    <a:p>
                      <a:r>
                        <a:rPr sz="1500" b="1" i="0">
                          <a:solidFill>
                            <a:srgbClr val="FFFFFF"/>
                          </a:solidFill>
                          <a:latin typeface="Calibri"/>
                        </a:rPr>
                        <a:t>Lesson</a:t>
                      </a:r>
                    </a:p>
                  </a:txBody>
                  <a:tcPr marL="73152" marR="73152" marT="36576" marB="36576" anchor="ctr">
                    <a:solidFill>
                      <a:srgbClr val="1F4E79"/>
                    </a:solidFill>
                  </a:tcPr>
                </a:tc>
              </a:tr>
              <a:tr h="658368">
                <a:tc>
                  <a:txBody>
                    <a:bodyPr wrap="square"/>
                    <a:lstStyle/>
                    <a:p>
                      <a:r>
                        <a:rPr sz="1500" b="0" i="0">
                          <a:solidFill>
                            <a:srgbClr val="1A1A1A"/>
                          </a:solidFill>
                          <a:latin typeface="Calibri"/>
                        </a:rPr>
                        <a:t>Permission error retried and reported as "did not pass the checks"</a:t>
                      </a:r>
                    </a:p>
                  </a:txBody>
                  <a:tcPr marL="73152" marR="73152" marT="36576" marB="36576" anchor="ctr">
                    <a:solidFill>
                      <a:srgbClr val="FFFFFF"/>
                    </a:solidFill>
                  </a:tcPr>
                </a:tc>
                <a:tc>
                  <a:txBody>
                    <a:bodyPr wrap="square"/>
                    <a:lstStyle/>
                    <a:p>
                      <a:r>
                        <a:rPr sz="1500" b="0" i="0">
                          <a:solidFill>
                            <a:srgbClr val="1A1A1A"/>
                          </a:solidFill>
                          <a:latin typeface="Calibri"/>
                        </a:rPr>
                        <a:t>Name the cause the code saw</a:t>
                      </a:r>
                    </a:p>
                  </a:txBody>
                  <a:tcPr marL="73152" marR="73152" marT="36576" marB="36576" anchor="ctr">
                    <a:solidFill>
                      <a:srgbClr val="FFFFFF"/>
                    </a:solidFill>
                  </a:tcPr>
                </a:tc>
              </a:tr>
              <a:tr h="658368">
                <a:tc>
                  <a:txBody>
                    <a:bodyPr wrap="square"/>
                    <a:lstStyle/>
                    <a:p>
                      <a:r>
                        <a:rPr sz="1500" b="0" i="0">
                          <a:solidFill>
                            <a:srgbClr val="1A1A1A"/>
                          </a:solidFill>
                          <a:latin typeface="Calibri"/>
                        </a:rPr>
                        <a:t>LLM-written link carried another meeting's Id (BA-13)</a:t>
                      </a:r>
                    </a:p>
                  </a:txBody>
                  <a:tcPr marL="73152" marR="73152" marT="36576" marB="36576" anchor="ctr">
                    <a:solidFill>
                      <a:srgbClr val="EAF1F8"/>
                    </a:solidFill>
                  </a:tcPr>
                </a:tc>
                <a:tc>
                  <a:txBody>
                    <a:bodyPr wrap="square"/>
                    <a:lstStyle/>
                    <a:p>
                      <a:r>
                        <a:rPr sz="1500" b="0" i="0">
                          <a:solidFill>
                            <a:srgbClr val="1A1A1A"/>
                          </a:solidFill>
                          <a:latin typeface="Calibri"/>
                        </a:rPr>
                        <a:t>URLs are facts: only from code</a:t>
                      </a:r>
                    </a:p>
                  </a:txBody>
                  <a:tcPr marL="73152" marR="73152" marT="36576" marB="36576" anchor="ctr">
                    <a:solidFill>
                      <a:srgbClr val="EAF1F8"/>
                    </a:solidFill>
                  </a:tcPr>
                </a:tc>
              </a:tr>
              <a:tr h="658368">
                <a:tc>
                  <a:txBody>
                    <a:bodyPr wrap="square"/>
                    <a:lstStyle/>
                    <a:p>
                      <a:r>
                        <a:rPr sz="1500" b="0" i="0">
                          <a:solidFill>
                            <a:srgbClr val="1A1A1A"/>
                          </a:solidFill>
                          <a:latin typeface="Calibri"/>
                        </a:rPr>
                        <a:t>A repair made a holdout next step worse (MTG-0014)</a:t>
                      </a:r>
                    </a:p>
                  </a:txBody>
                  <a:tcPr marL="73152" marR="73152" marT="36576" marB="36576" anchor="ctr">
                    <a:solidFill>
                      <a:srgbClr val="FFFFFF"/>
                    </a:solidFill>
                  </a:tcPr>
                </a:tc>
                <a:tc>
                  <a:txBody>
                    <a:bodyPr wrap="square"/>
                    <a:lstStyle/>
                    <a:p>
                      <a:r>
                        <a:rPr sz="1500" b="0" i="0">
                          <a:solidFill>
                            <a:srgbClr val="1A1A1A"/>
                          </a:solidFill>
                          <a:latin typeface="Calibri"/>
                        </a:rPr>
                        <a:t>Repairs need holdout testing</a:t>
                      </a:r>
                    </a:p>
                  </a:txBody>
                  <a:tcPr marL="73152" marR="73152" marT="36576" marB="36576" anchor="ctr">
                    <a:solidFill>
                      <a:srgbClr val="FFFFFF"/>
                    </a:solidFill>
                  </a:tcPr>
                </a:tc>
              </a:tr>
              <a:tr h="658368">
                <a:tc>
                  <a:txBody>
                    <a:bodyPr wrap="square"/>
                    <a:lstStyle/>
                    <a:p>
                      <a:r>
                        <a:rPr sz="1500" b="0" i="0">
                          <a:solidFill>
                            <a:srgbClr val="1A1A1A"/>
                          </a:solidFill>
                          <a:latin typeface="Calibri"/>
                        </a:rPr>
                        <a:t>v4 "always run Find Client Meetings" broke Q&amp;A routing</a:t>
                      </a:r>
                    </a:p>
                  </a:txBody>
                  <a:tcPr marL="73152" marR="73152" marT="36576" marB="36576" anchor="ctr">
                    <a:solidFill>
                      <a:srgbClr val="EAF1F8"/>
                    </a:solidFill>
                  </a:tcPr>
                </a:tc>
                <a:tc>
                  <a:txBody>
                    <a:bodyPr wrap="square"/>
                    <a:lstStyle/>
                    <a:p>
                      <a:r>
                        <a:rPr sz="1500" b="0" i="0">
                          <a:solidFill>
                            <a:srgbClr val="1A1A1A"/>
                          </a:solidFill>
                          <a:latin typeface="Calibri"/>
                        </a:rPr>
                        <a:t>Re-read old rules when a job is added</a:t>
                      </a:r>
                    </a:p>
                  </a:txBody>
                  <a:tcPr marL="73152" marR="73152" marT="36576" marB="36576" anchor="ctr">
                    <a:solidFill>
                      <a:srgbClr val="EAF1F8"/>
                    </a:solidFill>
                  </a:tcPr>
                </a:tc>
              </a:tr>
              <a:tr h="658368">
                <a:tc>
                  <a:txBody>
                    <a:bodyPr wrap="square"/>
                    <a:lstStyle/>
                    <a:p>
                      <a:r>
                        <a:rPr sz="1500" b="0" i="0">
                          <a:solidFill>
                            <a:srgbClr val="1A1A1A"/>
                          </a:solidFill>
                          <a:latin typeface="Calibri"/>
                        </a:rPr>
                        <a:t>Agent replayed an earlier result as new (BA-24)</a:t>
                      </a:r>
                    </a:p>
                  </a:txBody>
                  <a:tcPr marL="73152" marR="73152" marT="36576" marB="36576" anchor="ctr">
                    <a:solidFill>
                      <a:srgbClr val="FFFFFF"/>
                    </a:solidFill>
                  </a:tcPr>
                </a:tc>
                <a:tc>
                  <a:txBody>
                    <a:bodyPr wrap="square"/>
                    <a:lstStyle/>
                    <a:p>
                      <a:r>
                        <a:rPr sz="1500" b="0" i="0">
                          <a:solidFill>
                            <a:srgbClr val="1A1A1A"/>
                          </a:solidFill>
                          <a:latin typeface="Calibri"/>
                        </a:rPr>
                        <a:t>Put what must be verifiable in code output</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Scalability: top risks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12</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949440"/>
                <a:gridCol w="4160520"/>
              </a:tblGrid>
              <a:tr h="658368">
                <a:tc>
                  <a:txBody>
                    <a:bodyPr wrap="square"/>
                    <a:lstStyle/>
                    <a:p>
                      <a:r>
                        <a:rPr sz="1500" b="1" i="0">
                          <a:solidFill>
                            <a:srgbClr val="FFFFFF"/>
                          </a:solidFill>
                          <a:latin typeface="Calibri"/>
                        </a:rPr>
                        <a:t>Risk</a:t>
                      </a:r>
                    </a:p>
                  </a:txBody>
                  <a:tcPr marL="73152" marR="73152" marT="36576" marB="36576" anchor="ctr">
                    <a:solidFill>
                      <a:srgbClr val="1F4E79"/>
                    </a:solidFill>
                  </a:tcPr>
                </a:tc>
                <a:tc>
                  <a:txBody>
                    <a:bodyPr wrap="square"/>
                    <a:lstStyle/>
                    <a:p>
                      <a:r>
                        <a:rPr sz="1500" b="1" i="0">
                          <a:solidFill>
                            <a:srgbClr val="FFFFFF"/>
                          </a:solidFill>
                          <a:latin typeface="Calibri"/>
                        </a:rPr>
                        <a:t>Mitigation</a:t>
                      </a:r>
                    </a:p>
                  </a:txBody>
                  <a:tcPr marL="73152" marR="73152" marT="36576" marB="36576" anchor="ctr">
                    <a:solidFill>
                      <a:srgbClr val="1F4E79"/>
                    </a:solidFill>
                  </a:tcPr>
                </a:tc>
              </a:tr>
              <a:tr h="658368">
                <a:tc>
                  <a:txBody>
                    <a:bodyPr wrap="square"/>
                    <a:lstStyle/>
                    <a:p>
                      <a:r>
                        <a:rPr sz="1500" b="0" i="0">
                          <a:solidFill>
                            <a:srgbClr val="1A1A1A"/>
                          </a:solidFill>
                          <a:latin typeface="Calibri"/>
                        </a:rPr>
                        <a:t>Grounding adds +5 SOQL and 0.5–0.7 s CPU per call to the banker's transaction</a:t>
                      </a:r>
                    </a:p>
                  </a:txBody>
                  <a:tcPr marL="73152" marR="73152" marT="36576" marB="36576" anchor="ctr">
                    <a:solidFill>
                      <a:srgbClr val="FFFFFF"/>
                    </a:solidFill>
                  </a:tcPr>
                </a:tc>
                <a:tc>
                  <a:txBody>
                    <a:bodyPr wrap="square"/>
                    <a:lstStyle/>
                    <a:p>
                      <a:r>
                        <a:rPr sz="1500" b="0" i="0">
                          <a:solidFill>
                            <a:srgbClr val="1A1A1A"/>
                          </a:solidFill>
                          <a:latin typeface="Calibri"/>
                        </a:rPr>
                        <a:t>MAX_PER_CALL = 3; LLM before DML</a:t>
                      </a:r>
                    </a:p>
                  </a:txBody>
                  <a:tcPr marL="73152" marR="73152" marT="36576" marB="36576" anchor="ctr">
                    <a:solidFill>
                      <a:srgbClr val="FFFFFF"/>
                    </a:solidFill>
                  </a:tcPr>
                </a:tc>
              </a:tr>
              <a:tr h="658368">
                <a:tc>
                  <a:txBody>
                    <a:bodyPr wrap="square"/>
                    <a:lstStyle/>
                    <a:p>
                      <a:r>
                        <a:rPr sz="1500" b="0" i="0">
                          <a:solidFill>
                            <a:srgbClr val="1A1A1A"/>
                          </a:solidFill>
                          <a:latin typeface="Calibri"/>
                        </a:rPr>
                        <a:t>Summary latency: median 7.2 s, 14.6 s with a retry</a:t>
                      </a:r>
                    </a:p>
                  </a:txBody>
                  <a:tcPr marL="73152" marR="73152" marT="36576" marB="36576" anchor="ctr">
                    <a:solidFill>
                      <a:srgbClr val="EAF1F8"/>
                    </a:solidFill>
                  </a:tcPr>
                </a:tc>
                <a:tc>
                  <a:txBody>
                    <a:bodyPr wrap="square"/>
                    <a:lstStyle/>
                    <a:p>
                      <a:r>
                        <a:rPr sz="1500" b="0" i="0">
                          <a:solidFill>
                            <a:srgbClr val="1A1A1A"/>
                          </a:solidFill>
                          <a:latin typeface="Calibri"/>
                        </a:rPr>
                        <a:t>One retry only; track p95</a:t>
                      </a:r>
                    </a:p>
                  </a:txBody>
                  <a:tcPr marL="73152" marR="73152" marT="36576" marB="36576" anchor="ctr">
                    <a:solidFill>
                      <a:srgbClr val="EAF1F8"/>
                    </a:solidFill>
                  </a:tcPr>
                </a:tc>
              </a:tr>
              <a:tr h="658368">
                <a:tc>
                  <a:txBody>
                    <a:bodyPr wrap="square"/>
                    <a:lstStyle/>
                    <a:p>
                      <a:r>
                        <a:rPr sz="1500" b="0" i="0">
                          <a:solidFill>
                            <a:srgbClr val="1A1A1A"/>
                          </a:solidFill>
                          <a:latin typeface="Calibri"/>
                        </a:rPr>
                        <a:t>Einstein consumption scales with use; a retry doubles it</a:t>
                      </a:r>
                    </a:p>
                  </a:txBody>
                  <a:tcPr marL="73152" marR="73152" marT="36576" marB="36576" anchor="ctr">
                    <a:solidFill>
                      <a:srgbClr val="FFFFFF"/>
                    </a:solidFill>
                  </a:tcPr>
                </a:tc>
                <a:tc>
                  <a:txBody>
                    <a:bodyPr wrap="square"/>
                    <a:lstStyle/>
                    <a:p>
                      <a:r>
                        <a:rPr sz="1500" b="0" i="0">
                          <a:solidFill>
                            <a:srgbClr val="1A1A1A"/>
                          </a:solidFill>
                          <a:latin typeface="Calibri"/>
                        </a:rPr>
                        <a:t>Retry only invalid or transient</a:t>
                      </a:r>
                    </a:p>
                  </a:txBody>
                  <a:tcPr marL="73152" marR="73152" marT="36576" marB="36576" anchor="ctr">
                    <a:solidFill>
                      <a:srgbClr val="FFFFFF"/>
                    </a:solidFill>
                  </a:tcPr>
                </a:tc>
              </a:tr>
              <a:tr h="658368">
                <a:tc>
                  <a:txBody>
                    <a:bodyPr wrap="square"/>
                    <a:lstStyle/>
                    <a:p>
                      <a:r>
                        <a:rPr sz="1500" b="0" i="0">
                          <a:solidFill>
                            <a:srgbClr val="1A1A1A"/>
                          </a:solidFill>
                          <a:latin typeface="Calibri"/>
                        </a:rPr>
                        <a:t>Log holds raw client data; no purge job yet</a:t>
                      </a:r>
                    </a:p>
                  </a:txBody>
                  <a:tcPr marL="73152" marR="73152" marT="36576" marB="36576" anchor="ctr">
                    <a:solidFill>
                      <a:srgbClr val="EAF1F8"/>
                    </a:solidFill>
                  </a:tcPr>
                </a:tc>
                <a:tc>
                  <a:txBody>
                    <a:bodyPr wrap="square"/>
                    <a:lstStyle/>
                    <a:p>
                      <a:r>
                        <a:rPr sz="1500" b="0" i="0">
                          <a:solidFill>
                            <a:srgbClr val="1A1A1A"/>
                          </a:solidFill>
                          <a:latin typeface="Calibri"/>
                        </a:rPr>
                        <a:t>Retention policy and purge batch</a:t>
                      </a:r>
                    </a:p>
                  </a:txBody>
                  <a:tcPr marL="73152" marR="73152" marT="36576" marB="36576" anchor="ctr">
                    <a:solidFill>
                      <a:srgbClr val="EAF1F8"/>
                    </a:solidFill>
                  </a:tcPr>
                </a:tc>
              </a:tr>
              <a:tr h="658368">
                <a:tc>
                  <a:txBody>
                    <a:bodyPr wrap="square"/>
                    <a:lstStyle/>
                    <a:p>
                      <a:r>
                        <a:rPr sz="1500" b="0" i="0">
                          <a:solidFill>
                            <a:srgbClr val="1A1A1A"/>
                          </a:solidFill>
                          <a:latin typeface="Calibri"/>
                        </a:rPr>
                        <a:t>Cross-client name list capped at 2,000</a:t>
                      </a:r>
                    </a:p>
                  </a:txBody>
                  <a:tcPr marL="73152" marR="73152" marT="36576" marB="36576" anchor="ctr">
                    <a:solidFill>
                      <a:srgbClr val="FFFFFF"/>
                    </a:solidFill>
                  </a:tcPr>
                </a:tc>
                <a:tc>
                  <a:txBody>
                    <a:bodyPr wrap="square"/>
                    <a:lstStyle/>
                    <a:p>
                      <a:r>
                        <a:rPr sz="1500" b="0" i="0">
                          <a:solidFill>
                            <a:srgbClr val="1A1A1A"/>
                          </a:solidFill>
                          <a:latin typeface="Calibri"/>
                        </a:rPr>
                        <a:t>Cap logged; look up only names used</a:t>
                      </a:r>
                    </a:p>
                  </a:txBody>
                  <a:tcPr marL="73152" marR="73152" marT="36576" marB="36576"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Reusable pattern for the 30+ agent backlog</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13</a:t>
            </a:r>
          </a:p>
        </p:txBody>
      </p:sp>
      <p:sp>
        <p:nvSpPr>
          <p:cNvPr id="7" name="Pentagon 6"/>
          <p:cNvSpPr/>
          <p:nvPr/>
        </p:nvSpPr>
        <p:spPr>
          <a:xfrm>
            <a:off x="548640" y="1371600"/>
            <a:ext cx="214884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Context</a:t>
            </a:r>
          </a:p>
        </p:txBody>
      </p:sp>
      <p:sp>
        <p:nvSpPr>
          <p:cNvPr id="8" name="TextBox 7"/>
          <p:cNvSpPr txBox="1"/>
          <p:nvPr/>
        </p:nvSpPr>
        <p:spPr>
          <a:xfrm>
            <a:off x="64008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User mode, source ids, budget</a:t>
            </a:r>
          </a:p>
        </p:txBody>
      </p:sp>
      <p:sp>
        <p:nvSpPr>
          <p:cNvPr id="9" name="Chevron 8"/>
          <p:cNvSpPr/>
          <p:nvPr/>
        </p:nvSpPr>
        <p:spPr>
          <a:xfrm>
            <a:off x="278892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Template</a:t>
            </a:r>
          </a:p>
        </p:txBody>
      </p:sp>
      <p:sp>
        <p:nvSpPr>
          <p:cNvPr id="10" name="TextBox 9"/>
          <p:cNvSpPr txBox="1"/>
          <p:nvPr/>
        </p:nvSpPr>
        <p:spPr>
          <a:xfrm>
            <a:off x="288036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Strict JSON, frozen version</a:t>
            </a:r>
          </a:p>
        </p:txBody>
      </p:sp>
      <p:sp>
        <p:nvSpPr>
          <p:cNvPr id="11" name="Chevron 10"/>
          <p:cNvSpPr/>
          <p:nvPr/>
        </p:nvSpPr>
        <p:spPr>
          <a:xfrm>
            <a:off x="502920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Validate</a:t>
            </a:r>
          </a:p>
        </p:txBody>
      </p:sp>
      <p:sp>
        <p:nvSpPr>
          <p:cNvPr id="12" name="TextBox 11"/>
          <p:cNvSpPr txBox="1"/>
          <p:nvPr/>
        </p:nvSpPr>
        <p:spPr>
          <a:xfrm>
            <a:off x="512064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Block, repair, offline</a:t>
            </a:r>
          </a:p>
        </p:txBody>
      </p:sp>
      <p:sp>
        <p:nvSpPr>
          <p:cNvPr id="13" name="Chevron 12"/>
          <p:cNvSpPr/>
          <p:nvPr/>
        </p:nvSpPr>
        <p:spPr>
          <a:xfrm>
            <a:off x="726948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Fallback</a:t>
            </a:r>
          </a:p>
        </p:txBody>
      </p:sp>
      <p:sp>
        <p:nvSpPr>
          <p:cNvPr id="14" name="TextBox 13"/>
          <p:cNvSpPr txBox="1"/>
          <p:nvPr/>
        </p:nvSpPr>
        <p:spPr>
          <a:xfrm>
            <a:off x="736092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Labelled, deterministic</a:t>
            </a:r>
          </a:p>
        </p:txBody>
      </p:sp>
      <p:sp>
        <p:nvSpPr>
          <p:cNvPr id="15" name="Chevron 14"/>
          <p:cNvSpPr/>
          <p:nvPr/>
        </p:nvSpPr>
        <p:spPr>
          <a:xfrm>
            <a:off x="950976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Log</a:t>
            </a:r>
          </a:p>
        </p:txBody>
      </p:sp>
      <p:sp>
        <p:nvSpPr>
          <p:cNvPr id="16" name="TextBox 15"/>
          <p:cNvSpPr txBox="1"/>
          <p:nvPr/>
        </p:nvSpPr>
        <p:spPr>
          <a:xfrm>
            <a:off x="960120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One row per request</a:t>
            </a:r>
          </a:p>
        </p:txBody>
      </p:sp>
      <p:sp>
        <p:nvSpPr>
          <p:cNvPr id="17" name="Rounded Rectangle 16"/>
          <p:cNvSpPr/>
          <p:nvPr/>
        </p:nvSpPr>
        <p:spPr>
          <a:xfrm>
            <a:off x="54864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Shared kit</a:t>
            </a:r>
          </a:p>
        </p:txBody>
      </p:sp>
      <p:sp>
        <p:nvSpPr>
          <p:cNvPr id="19" name="TextBox 18"/>
          <p:cNvSpPr txBox="1"/>
          <p:nvPr/>
        </p:nvSpPr>
        <p:spPr>
          <a:xfrm>
            <a:off x="64008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AiActionSupport: errors, links, logs</a:t>
            </a:r>
          </a:p>
          <a:p>
            <a:pPr marL="274320" indent="-228600">
              <a:spcAft>
                <a:spcPts val="600"/>
              </a:spcAft>
              <a:buChar char="•"/>
            </a:pPr>
            <a:r>
              <a:rPr sz="1900" b="0" i="0">
                <a:solidFill>
                  <a:srgbClr val="1A1A1A"/>
                </a:solidFill>
                <a:latin typeface="Calibri"/>
              </a:rPr>
              <a:t>ILlmGateway + MockLlmGateway</a:t>
            </a:r>
          </a:p>
          <a:p>
            <a:pPr marL="274320" indent="-228600">
              <a:spcAft>
                <a:spcPts val="600"/>
              </a:spcAft>
              <a:buChar char="•"/>
            </a:pPr>
            <a:r>
              <a:rPr sz="1900" b="0" i="0">
                <a:solidFill>
                  <a:srgbClr val="1A1A1A"/>
                </a:solidFill>
                <a:latin typeface="Calibri"/>
              </a:rPr>
              <a:t>assertBankerFacing on every path</a:t>
            </a:r>
          </a:p>
          <a:p>
            <a:pPr marL="274320" indent="-228600">
              <a:spcAft>
                <a:spcPts val="600"/>
              </a:spcAft>
              <a:buChar char="•"/>
            </a:pPr>
            <a:r>
              <a:rPr sz="1900" b="0" i="0">
                <a:solidFill>
                  <a:srgbClr val="1A1A1A"/>
                </a:solidFill>
                <a:latin typeface="Calibri"/>
              </a:rPr>
              <a:t>Replay + mutation scripts</a:t>
            </a:r>
          </a:p>
        </p:txBody>
      </p:sp>
      <p:sp>
        <p:nvSpPr>
          <p:cNvPr id="20" name="Rounded Rectangle 19"/>
          <p:cNvSpPr/>
          <p:nvPr/>
        </p:nvSpPr>
        <p:spPr>
          <a:xfrm>
            <a:off x="621792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Per-agent rules</a:t>
            </a:r>
          </a:p>
        </p:txBody>
      </p:sp>
      <p:sp>
        <p:nvSpPr>
          <p:cNvPr id="22" name="TextBox 21"/>
          <p:cNvSpPr txBox="1"/>
          <p:nvPr/>
        </p:nvSpPr>
        <p:spPr>
          <a:xfrm>
            <a:off x="630936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Action in the domain's subagent</a:t>
            </a:r>
          </a:p>
          <a:p>
            <a:pPr marL="274320" indent="-228600">
              <a:spcAft>
                <a:spcPts val="600"/>
              </a:spcAft>
              <a:buChar char="•"/>
            </a:pPr>
            <a:r>
              <a:rPr sz="1900" b="0" i="0">
                <a:solidFill>
                  <a:srgbClr val="1A1A1A"/>
                </a:solidFill>
                <a:latin typeface="Calibri"/>
              </a:rPr>
              <a:t>Guard: set, available, bound, cleared</a:t>
            </a:r>
          </a:p>
          <a:p>
            <a:pPr marL="274320" indent="-228600">
              <a:spcAft>
                <a:spcPts val="600"/>
              </a:spcAft>
              <a:buChar char="•"/>
            </a:pPr>
            <a:r>
              <a:rPr sz="1900" b="0" i="0">
                <a:solidFill>
                  <a:srgbClr val="1A1A1A"/>
                </a:solidFill>
                <a:latin typeface="Calibri"/>
              </a:rPr>
              <a:t>Generate the full script; diff the bundle</a:t>
            </a:r>
          </a:p>
          <a:p>
            <a:pPr marL="274320" indent="-228600">
              <a:spcAft>
                <a:spcPts val="600"/>
              </a:spcAft>
              <a:buChar char="•"/>
            </a:pPr>
            <a:r>
              <a:rPr sz="1900" b="0" i="0">
                <a:solidFill>
                  <a:srgbClr val="1A1A1A"/>
                </a:solidFill>
                <a:latin typeface="Calibri"/>
              </a:rPr>
              <a:t>Holdouts run once, at the 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Known limitations and next steps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14</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Known limitations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Agent can trim or replay validated text</a:t>
            </a:r>
          </a:p>
          <a:p>
            <a:pPr marL="274320" indent="-228600">
              <a:spcAft>
                <a:spcPts val="600"/>
              </a:spcAft>
              <a:buChar char="•"/>
            </a:pPr>
            <a:r>
              <a:rPr sz="1900" b="0" i="0">
                <a:solidFill>
                  <a:srgbClr val="1A1A1A"/>
                </a:solidFill>
                <a:latin typeface="Calibri"/>
              </a:rPr>
              <a:t>Confirm-before-regenerate not enforced in code</a:t>
            </a:r>
          </a:p>
          <a:p>
            <a:pPr marL="274320" indent="-228600">
              <a:spcAft>
                <a:spcPts val="600"/>
              </a:spcAft>
              <a:buChar char="•"/>
            </a:pPr>
            <a:r>
              <a:rPr sz="1900" b="0" i="0">
                <a:solidFill>
                  <a:srgbClr val="1A1A1A"/>
                </a:solidFill>
                <a:latin typeface="Calibri"/>
              </a:rPr>
              <a:t>Wording and attribution checked offline only</a:t>
            </a:r>
          </a:p>
          <a:p>
            <a:pPr marL="274320" indent="-228600">
              <a:spcAft>
                <a:spcPts val="600"/>
              </a:spcAft>
              <a:buChar char="•"/>
            </a:pPr>
            <a:r>
              <a:rPr sz="1900" b="0" i="0">
                <a:solidFill>
                  <a:srgbClr val="1A1A1A"/>
                </a:solidFill>
                <a:latin typeface="Calibri"/>
              </a:rPr>
              <a:t>Closed deals not in the context</a:t>
            </a:r>
          </a:p>
          <a:p>
            <a:pPr marL="274320" indent="-228600">
              <a:spcAft>
                <a:spcPts val="600"/>
              </a:spcAft>
              <a:buChar char="•"/>
            </a:pPr>
            <a:r>
              <a:rPr sz="1900" b="0" i="0">
                <a:solidFill>
                  <a:srgbClr val="1A1A1A"/>
                </a:solidFill>
                <a:latin typeface="Calibri"/>
              </a:rPr>
              <a:t>Q&amp;A sees only the 3 newest meetings</a:t>
            </a:r>
          </a:p>
          <a:p>
            <a:pPr marL="274320" indent="-228600">
              <a:spcAft>
                <a:spcPts val="600"/>
              </a:spcAft>
              <a:buChar char="•"/>
            </a:pPr>
            <a:r>
              <a:rPr sz="1900" b="0" i="0">
                <a:solidFill>
                  <a:srgbClr val="1A1A1A"/>
                </a:solidFill>
                <a:latin typeface="Calibri"/>
              </a:rPr>
              <a:t>User mode not shown under a Private OWD</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Next steps</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Run TC-04 to TC-24, including the holdouts</a:t>
            </a:r>
          </a:p>
          <a:p>
            <a:pPr marL="274320" indent="-228600">
              <a:spcAft>
                <a:spcPts val="600"/>
              </a:spcAft>
              <a:buChar char="•"/>
            </a:pPr>
            <a:r>
              <a:rPr sz="1900" b="0" i="0">
                <a:solidFill>
                  <a:srgbClr val="1A1A1A"/>
                </a:solidFill>
                <a:latin typeface="Calibri"/>
              </a:rPr>
              <a:t>Custom Lightning Type renderer for agent output</a:t>
            </a:r>
          </a:p>
          <a:p>
            <a:pPr marL="274320" indent="-228600">
              <a:spcAft>
                <a:spcPts val="600"/>
              </a:spcAft>
              <a:buChar char="•"/>
            </a:pPr>
            <a:r>
              <a:rPr sz="1900" b="0" i="0">
                <a:solidFill>
                  <a:srgbClr val="1A1A1A"/>
                </a:solidFill>
                <a:latin typeface="Calibri"/>
              </a:rPr>
              <a:t>Structured log fields for monitoring</a:t>
            </a:r>
          </a:p>
          <a:p>
            <a:pPr marL="274320" indent="-228600">
              <a:spcAft>
                <a:spcPts val="600"/>
              </a:spcAft>
              <a:buChar char="•"/>
            </a:pPr>
            <a:r>
              <a:rPr sz="1900" b="0" i="0">
                <a:solidFill>
                  <a:srgbClr val="1A1A1A"/>
                </a:solidFill>
                <a:latin typeface="Calibri"/>
              </a:rPr>
              <a:t>Name lookup instead of the 2,000 list</a:t>
            </a:r>
          </a:p>
          <a:p>
            <a:pPr marL="274320" indent="-228600">
              <a:spcAft>
                <a:spcPts val="600"/>
              </a:spcAft>
              <a:buChar char="•"/>
            </a:pPr>
            <a:r>
              <a:rPr sz="1900" b="0" i="0">
                <a:solidFill>
                  <a:srgbClr val="1A1A1A"/>
                </a:solidFill>
                <a:latin typeface="Calibri"/>
              </a:rPr>
              <a:t>Load test; async path for batch prep</a:t>
            </a:r>
          </a:p>
          <a:p>
            <a:pPr marL="274320" indent="-228600">
              <a:spcAft>
                <a:spcPts val="600"/>
              </a:spcAft>
              <a:buChar char="•"/>
            </a:pPr>
            <a:r>
              <a:rPr sz="1900" b="0" i="0">
                <a:solidFill>
                  <a:srgbClr val="1A1A1A"/>
                </a:solidFill>
                <a:latin typeface="Calibri"/>
              </a:rPr>
              <a:t>Recently closed deals in the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